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DM Sans" pitchFamily="2" charset="0"/>
      <p:regular r:id="rId9"/>
      <p:bold r:id="rId10"/>
    </p:embeddedFont>
    <p:embeddedFont>
      <p:font typeface="Montserrat Bold" panose="020B0604020202020204" charset="0"/>
      <p:regular r:id="rId11"/>
    </p:embeddedFont>
    <p:embeddedFont>
      <p:font typeface="Open Sa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437" y="9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6.svg"/><Relationship Id="rId4" Type="http://schemas.openxmlformats.org/officeDocument/2006/relationships/image" Target="../media/image4.png"/><Relationship Id="rId5" Type="http://schemas.openxmlformats.org/officeDocument/2006/relationships/image" Target="../media/image1.svg"/><Relationship Id="rId6" Type="http://schemas.openxmlformats.org/officeDocument/2006/relationships/image" Target="../media/image3.sv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7.svg"/><Relationship Id="rId4" Type="http://schemas.openxmlformats.org/officeDocument/2006/relationships/image" Target="../media/image2.svg"/><Relationship Id="rId5" Type="http://schemas.openxmlformats.org/officeDocument/2006/relationships/image" Target="../media/image4.png"/><Relationship Id="rId6" Type="http://schemas.openxmlformats.org/officeDocument/2006/relationships/image" Target="../media/image3.svg"/><Relationship Id="rId7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svg"/><Relationship Id="rId4" Type="http://schemas.openxmlformats.org/officeDocument/2006/relationships/image" Target="../media/image3.sv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.svg"/><Relationship Id="rId4" Type="http://schemas.openxmlformats.org/officeDocument/2006/relationships/image" Target="../media/image8.sv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svg"/><Relationship Id="rId4" Type="http://schemas.openxmlformats.org/officeDocument/2006/relationships/image" Target="../media/image3.sv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3.svg"/><Relationship Id="rId4" Type="http://schemas.openxmlformats.org/officeDocument/2006/relationships/image" Target="../media/image7.svg"/><Relationship Id="rId5" Type="http://schemas.openxmlformats.org/officeDocument/2006/relationships/image" Target="../media/image4.png"/><Relationship Id="rId6" Type="http://schemas.openxmlformats.org/officeDocument/2006/relationships/image" Target="../media/image1.sv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3640680" y="5712464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246407" y="8080600"/>
            <a:ext cx="2245526" cy="2607287"/>
          </a:xfrm>
          <a:custGeom>
            <a:avLst/>
            <a:gdLst/>
            <a:ahLst/>
            <a:cxnLst/>
            <a:rect l="l" t="t" r="r" b="b"/>
            <a:pathLst>
              <a:path w="2245526" h="2607287">
                <a:moveTo>
                  <a:pt x="0" y="0"/>
                </a:moveTo>
                <a:lnTo>
                  <a:pt x="2245526" y="0"/>
                </a:lnTo>
                <a:lnTo>
                  <a:pt x="2245526" y="2607286"/>
                </a:lnTo>
                <a:lnTo>
                  <a:pt x="0" y="2607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 flipH="1" flipV="1">
            <a:off x="13452275" y="-158206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431556" y="1893830"/>
            <a:ext cx="17322350" cy="1564766"/>
            <a:chOff x="-3525660" y="142875"/>
            <a:chExt cx="23096467" cy="2086354"/>
          </a:xfrm>
        </p:grpSpPr>
        <p:sp>
          <p:nvSpPr>
            <p:cNvPr id="6" name="TextBox 6"/>
            <p:cNvSpPr txBox="1"/>
            <p:nvPr/>
          </p:nvSpPr>
          <p:spPr>
            <a:xfrm>
              <a:off x="0" y="142875"/>
              <a:ext cx="13215983" cy="12612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30"/>
                </a:lnSpc>
              </a:pPr>
              <a:r>
                <a:rPr lang="en-US" sz="7303" b="1" dirty="0">
                  <a:solidFill>
                    <a:srgbClr val="01386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 </a:t>
              </a:r>
              <a:r>
                <a:rPr lang="en-US" sz="8000" b="1" dirty="0">
                  <a:solidFill>
                    <a:srgbClr val="01386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LAKSHYA</a:t>
              </a:r>
              <a:endParaRPr lang="en-US" sz="7303" b="1" dirty="0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3525660" y="1408492"/>
              <a:ext cx="23096467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800"/>
                </a:lnSpc>
              </a:pPr>
              <a:r>
                <a:rPr lang="en-US" sz="4000" dirty="0"/>
                <a:t>PROJECT NAME: </a:t>
              </a:r>
              <a:r>
                <a:rPr lang="en-US" sz="4000" b="1" dirty="0" err="1"/>
                <a:t>LedgerCore</a:t>
              </a:r>
              <a:r>
                <a:rPr lang="en-US" sz="4000" b="1" dirty="0"/>
                <a:t> – Next-Gen FinTech Expense Management System</a:t>
              </a:r>
              <a:endParaRPr lang="en-US" sz="4000" b="1" dirty="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18508" y="3925924"/>
            <a:ext cx="7465857" cy="5888048"/>
            <a:chOff x="0" y="0"/>
            <a:chExt cx="9954475" cy="7850731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342439" cy="1268110"/>
              <a:chOff x="0" y="0"/>
              <a:chExt cx="860442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6044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60442" h="812800">
                    <a:moveTo>
                      <a:pt x="430221" y="0"/>
                    </a:moveTo>
                    <a:cubicBezTo>
                      <a:pt x="192616" y="0"/>
                      <a:pt x="0" y="181951"/>
                      <a:pt x="0" y="406400"/>
                    </a:cubicBezTo>
                    <a:cubicBezTo>
                      <a:pt x="0" y="630849"/>
                      <a:pt x="192616" y="812800"/>
                      <a:pt x="430221" y="812800"/>
                    </a:cubicBezTo>
                    <a:cubicBezTo>
                      <a:pt x="667825" y="812800"/>
                      <a:pt x="860442" y="630849"/>
                      <a:pt x="860442" y="406400"/>
                    </a:cubicBezTo>
                    <a:cubicBezTo>
                      <a:pt x="860442" y="181951"/>
                      <a:pt x="667825" y="0"/>
                      <a:pt x="430221" y="0"/>
                    </a:cubicBezTo>
                    <a:close/>
                  </a:path>
                </a:pathLst>
              </a:custGeom>
              <a:solidFill>
                <a:srgbClr val="01386A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0666" y="114300"/>
                <a:ext cx="699109" cy="622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575934" y="2719727"/>
              <a:ext cx="3185638" cy="735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317"/>
                </a:lnSpc>
              </a:pPr>
              <a:r>
                <a:rPr lang="en-US" sz="3597" dirty="0">
                  <a:solidFill>
                    <a:srgbClr val="545454"/>
                  </a:solidFill>
                  <a:latin typeface="DM Sans"/>
                  <a:ea typeface="DM Sans"/>
                  <a:cs typeface="DM Sans"/>
                  <a:sym typeface="DM Sans"/>
                </a:rPr>
                <a:t>Rani Patel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00510" y="222945"/>
              <a:ext cx="4798388" cy="786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593"/>
                </a:lnSpc>
              </a:pPr>
              <a:r>
                <a:rPr lang="en-US" sz="4000" dirty="0">
                  <a:solidFill>
                    <a:srgbClr val="545454"/>
                  </a:solidFill>
                  <a:latin typeface="DM Sans"/>
                  <a:ea typeface="DM Sans"/>
                  <a:cs typeface="DM Sans"/>
                  <a:sym typeface="DM Sans"/>
                </a:rPr>
                <a:t>Zeel </a:t>
              </a:r>
              <a:r>
                <a:rPr lang="en-US" sz="4000" dirty="0" err="1">
                  <a:solidFill>
                    <a:srgbClr val="545454"/>
                  </a:solidFill>
                  <a:latin typeface="DM Sans"/>
                  <a:ea typeface="DM Sans"/>
                  <a:cs typeface="DM Sans"/>
                  <a:sym typeface="DM Sans"/>
                </a:rPr>
                <a:t>Kundariya</a:t>
              </a:r>
              <a:endParaRPr lang="en-US" sz="4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26723" y="2175051"/>
              <a:ext cx="1342439" cy="1268110"/>
              <a:chOff x="0" y="0"/>
              <a:chExt cx="860442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6044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60442" h="812800">
                    <a:moveTo>
                      <a:pt x="430221" y="0"/>
                    </a:moveTo>
                    <a:cubicBezTo>
                      <a:pt x="192616" y="0"/>
                      <a:pt x="0" y="181951"/>
                      <a:pt x="0" y="406400"/>
                    </a:cubicBezTo>
                    <a:cubicBezTo>
                      <a:pt x="0" y="630849"/>
                      <a:pt x="192616" y="812800"/>
                      <a:pt x="430221" y="812800"/>
                    </a:cubicBezTo>
                    <a:cubicBezTo>
                      <a:pt x="667825" y="812800"/>
                      <a:pt x="860442" y="630849"/>
                      <a:pt x="860442" y="406400"/>
                    </a:cubicBezTo>
                    <a:cubicBezTo>
                      <a:pt x="860442" y="181951"/>
                      <a:pt x="667825" y="0"/>
                      <a:pt x="430221" y="0"/>
                    </a:cubicBezTo>
                    <a:close/>
                  </a:path>
                </a:pathLst>
              </a:custGeom>
              <a:solidFill>
                <a:srgbClr val="01386A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0666" y="114300"/>
                <a:ext cx="699109" cy="622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3446" y="4368448"/>
              <a:ext cx="1288993" cy="1217623"/>
              <a:chOff x="0" y="0"/>
              <a:chExt cx="860442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6044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60442" h="812800">
                    <a:moveTo>
                      <a:pt x="430221" y="0"/>
                    </a:moveTo>
                    <a:cubicBezTo>
                      <a:pt x="192616" y="0"/>
                      <a:pt x="0" y="181951"/>
                      <a:pt x="0" y="406400"/>
                    </a:cubicBezTo>
                    <a:cubicBezTo>
                      <a:pt x="0" y="630849"/>
                      <a:pt x="192616" y="812800"/>
                      <a:pt x="430221" y="812800"/>
                    </a:cubicBezTo>
                    <a:cubicBezTo>
                      <a:pt x="667825" y="812800"/>
                      <a:pt x="860442" y="630849"/>
                      <a:pt x="860442" y="406400"/>
                    </a:cubicBezTo>
                    <a:cubicBezTo>
                      <a:pt x="860442" y="181951"/>
                      <a:pt x="667825" y="0"/>
                      <a:pt x="430221" y="0"/>
                    </a:cubicBezTo>
                    <a:close/>
                  </a:path>
                </a:pathLst>
              </a:custGeom>
              <a:solidFill>
                <a:srgbClr val="01386A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0666" y="114300"/>
                <a:ext cx="699109" cy="622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6892" y="6628572"/>
              <a:ext cx="1293795" cy="1222159"/>
              <a:chOff x="0" y="0"/>
              <a:chExt cx="860442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6044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60442" h="812800">
                    <a:moveTo>
                      <a:pt x="430221" y="0"/>
                    </a:moveTo>
                    <a:cubicBezTo>
                      <a:pt x="192616" y="0"/>
                      <a:pt x="0" y="181951"/>
                      <a:pt x="0" y="406400"/>
                    </a:cubicBezTo>
                    <a:cubicBezTo>
                      <a:pt x="0" y="630849"/>
                      <a:pt x="192616" y="812800"/>
                      <a:pt x="430221" y="812800"/>
                    </a:cubicBezTo>
                    <a:cubicBezTo>
                      <a:pt x="667825" y="812800"/>
                      <a:pt x="860442" y="630849"/>
                      <a:pt x="860442" y="406400"/>
                    </a:cubicBezTo>
                    <a:cubicBezTo>
                      <a:pt x="860442" y="181951"/>
                      <a:pt x="667825" y="0"/>
                      <a:pt x="430221" y="0"/>
                    </a:cubicBezTo>
                    <a:close/>
                  </a:path>
                </a:pathLst>
              </a:custGeom>
              <a:solidFill>
                <a:srgbClr val="01386A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0666" y="114300"/>
                <a:ext cx="699109" cy="622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574797" y="218330"/>
              <a:ext cx="192846" cy="7742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83"/>
                </a:lnSpc>
              </a:pPr>
              <a:r>
                <a:rPr lang="en-US" sz="355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9577" y="2460532"/>
              <a:ext cx="296731" cy="639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0"/>
                </a:lnSpc>
              </a:pPr>
              <a:r>
                <a:rPr lang="en-US" sz="2893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8833" y="4606555"/>
              <a:ext cx="318220" cy="674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25"/>
                </a:lnSpc>
              </a:pPr>
              <a:r>
                <a:rPr lang="en-US" sz="3018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5579" y="6877339"/>
              <a:ext cx="328540" cy="66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1"/>
                </a:lnSpc>
              </a:pPr>
              <a:r>
                <a:rPr lang="en-US" sz="302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75934" y="4673230"/>
              <a:ext cx="7378541" cy="7352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317"/>
                </a:lnSpc>
              </a:pPr>
              <a:r>
                <a:rPr lang="en-US" sz="3597" dirty="0">
                  <a:solidFill>
                    <a:srgbClr val="545454"/>
                  </a:solidFill>
                  <a:latin typeface="DM Sans"/>
                  <a:ea typeface="DM Sans"/>
                  <a:cs typeface="DM Sans"/>
                  <a:sym typeface="DM Sans"/>
                </a:rPr>
                <a:t>Saptak Bhattacharyya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75935" y="6877934"/>
              <a:ext cx="7378541" cy="735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17"/>
                </a:lnSpc>
              </a:pPr>
              <a:r>
                <a:rPr lang="en-US" sz="3597">
                  <a:solidFill>
                    <a:srgbClr val="545454"/>
                  </a:solidFill>
                  <a:latin typeface="DM Sans"/>
                  <a:ea typeface="DM Sans"/>
                  <a:cs typeface="DM Sans"/>
                  <a:sym typeface="DM Sans"/>
                </a:rPr>
                <a:t>Anshu Shee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-621558" y="30199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0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32" name="TextBox 32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818" t="-78926" r="-32997" b="-117912"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10979" y="1959928"/>
            <a:ext cx="12866041" cy="2587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1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71800" y="4926546"/>
            <a:ext cx="13335000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dirty="0"/>
              <a:t>Organizations struggle with manual, error-prone expense tracking and reimbursement processes. Employees waste time on manual receipt entry, finance teams face delayed approvals and fraud risks from duplicate or inflated claims, and cross-border reimbursements are slowed by currency conversion hassles — leading to poor financial transparency and low trust in corporate expense systems.</a:t>
            </a:r>
            <a:endParaRPr lang="en-US" sz="4400" dirty="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Freeform 4"/>
          <p:cNvSpPr/>
          <p:nvPr/>
        </p:nvSpPr>
        <p:spPr>
          <a:xfrm rot="-10800000">
            <a:off x="0" y="6172200"/>
            <a:ext cx="3543872" cy="4114800"/>
          </a:xfrm>
          <a:custGeom>
            <a:avLst/>
            <a:gdLst/>
            <a:ahLst/>
            <a:cxnLst/>
            <a:rect l="l" t="t" r="r" b="b"/>
            <a:pathLst>
              <a:path w="3543872" h="4114800">
                <a:moveTo>
                  <a:pt x="0" y="0"/>
                </a:moveTo>
                <a:lnTo>
                  <a:pt x="3543872" y="0"/>
                </a:lnTo>
                <a:lnTo>
                  <a:pt x="35438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611958">
            <a:off x="15396473" y="7658553"/>
            <a:ext cx="2457677" cy="2841245"/>
          </a:xfrm>
          <a:custGeom>
            <a:avLst/>
            <a:gdLst/>
            <a:ahLst/>
            <a:cxnLst/>
            <a:rect l="l" t="t" r="r" b="b"/>
            <a:pathLst>
              <a:path w="2457677" h="2841245">
                <a:moveTo>
                  <a:pt x="0" y="0"/>
                </a:moveTo>
                <a:lnTo>
                  <a:pt x="2457676" y="0"/>
                </a:lnTo>
                <a:lnTo>
                  <a:pt x="2457676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818" t="-78926" r="-32997" b="-117912"/>
            </a:stretch>
          </a:blipFill>
        </p:spPr>
      </p:sp>
      <p:sp>
        <p:nvSpPr>
          <p:cNvPr id="7" name="Freeform 7"/>
          <p:cNvSpPr/>
          <p:nvPr/>
        </p:nvSpPr>
        <p:spPr>
          <a:xfrm rot="-5400000" flipH="1" flipV="1">
            <a:off x="13672854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621558" y="30199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11" name="TextBox 11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818" t="-78926" r="-32997" b="-117912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0754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64066" y="7043014"/>
            <a:ext cx="4135477" cy="4114800"/>
          </a:xfrm>
          <a:custGeom>
            <a:avLst/>
            <a:gdLst/>
            <a:ahLst/>
            <a:cxnLst/>
            <a:rect l="l" t="t" r="r" b="b"/>
            <a:pathLst>
              <a:path w="4135477" h="4114800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18420" y="4836901"/>
            <a:ext cx="12775697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 err="1"/>
              <a:t>LedgerCore</a:t>
            </a:r>
            <a:r>
              <a:rPr lang="en-US" sz="4400" dirty="0"/>
              <a:t> is a comprehensive FinTech platform that streamlines expense tracking, prevents fraud using AI, and automates payments and reimbursements through a secure, role-based workflow. It empowers Employees, Managers, and Admins with real-time visibility, automated receipt verification, and instant payouts — built for personal finance management, corporate finance, and financial inclusion.</a:t>
            </a:r>
            <a:endParaRPr lang="en-US" sz="4400" dirty="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150103" y="2268574"/>
            <a:ext cx="7366992" cy="2495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1"/>
              </a:lnSpc>
            </a:pPr>
            <a:r>
              <a:rPr lang="en-US" sz="9601" b="1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 OVERVIEW</a:t>
            </a:r>
          </a:p>
        </p:txBody>
      </p:sp>
      <p:sp>
        <p:nvSpPr>
          <p:cNvPr id="6" name="Freeform 6"/>
          <p:cNvSpPr/>
          <p:nvPr/>
        </p:nvSpPr>
        <p:spPr>
          <a:xfrm>
            <a:off x="15494117" y="7043014"/>
            <a:ext cx="2793883" cy="3243986"/>
          </a:xfrm>
          <a:custGeom>
            <a:avLst/>
            <a:gdLst/>
            <a:ahLst/>
            <a:cxnLst/>
            <a:rect l="l" t="t" r="r" b="b"/>
            <a:pathLst>
              <a:path w="2793883" h="3243986">
                <a:moveTo>
                  <a:pt x="0" y="0"/>
                </a:moveTo>
                <a:lnTo>
                  <a:pt x="2793883" y="0"/>
                </a:lnTo>
                <a:lnTo>
                  <a:pt x="2793883" y="3243986"/>
                </a:lnTo>
                <a:lnTo>
                  <a:pt x="0" y="324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818" t="-78926" r="-32997" b="-11791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818" t="-78926" r="-32997" b="-117912"/>
            </a:stretch>
          </a:blipFill>
        </p:spPr>
      </p:sp>
      <p:sp>
        <p:nvSpPr>
          <p:cNvPr id="9" name="Freeform 9"/>
          <p:cNvSpPr/>
          <p:nvPr/>
        </p:nvSpPr>
        <p:spPr>
          <a:xfrm rot="-5400000" flipH="1" flipV="1">
            <a:off x="13672854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509365" y="30199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>
                <a:moveTo>
                  <a:pt x="0" y="0"/>
                </a:moveTo>
                <a:lnTo>
                  <a:pt x="4106228" y="0"/>
                </a:lnTo>
                <a:lnTo>
                  <a:pt x="4106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12" name="TextBox 12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818" t="-78926" r="-32997" b="-11791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975356" y="2409662"/>
            <a:ext cx="7720399" cy="3197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02"/>
              </a:lnSpc>
            </a:pPr>
            <a:r>
              <a:rPr lang="en-US" sz="8386" b="1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FEATURES &amp; BENEFITS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819721" y="8743950"/>
            <a:ext cx="3468279" cy="3086100"/>
            <a:chOff x="0" y="0"/>
            <a:chExt cx="913456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3456" cy="812800"/>
            </a:xfrm>
            <a:custGeom>
              <a:avLst/>
              <a:gdLst/>
              <a:ahLst/>
              <a:cxnLst/>
              <a:rect l="l" t="t" r="r" b="b"/>
              <a:pathLst>
                <a:path w="913456" h="812800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D84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449479" y="9138792"/>
            <a:ext cx="3468279" cy="3086100"/>
            <a:chOff x="0" y="0"/>
            <a:chExt cx="913456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13456" cy="812800"/>
            </a:xfrm>
            <a:custGeom>
              <a:avLst/>
              <a:gdLst/>
              <a:ahLst/>
              <a:cxnLst/>
              <a:rect l="l" t="t" r="r" b="b"/>
              <a:pathLst>
                <a:path w="913456" h="812800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D84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8" t="-78926" r="-32997" b="-117912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8" t="-78926" r="-32997" b="-117912"/>
            </a:stretch>
          </a:blipFill>
        </p:spPr>
      </p:sp>
      <p:sp>
        <p:nvSpPr>
          <p:cNvPr id="12" name="Freeform 12"/>
          <p:cNvSpPr/>
          <p:nvPr/>
        </p:nvSpPr>
        <p:spPr>
          <a:xfrm rot="-5400000" flipH="1" flipV="1">
            <a:off x="13672854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507214" y="20722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>
                <a:moveTo>
                  <a:pt x="0" y="0"/>
                </a:moveTo>
                <a:lnTo>
                  <a:pt x="4106228" y="0"/>
                </a:lnTo>
                <a:lnTo>
                  <a:pt x="4106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277523" y="0"/>
            <a:ext cx="4298771" cy="4647320"/>
          </a:xfrm>
          <a:custGeom>
            <a:avLst/>
            <a:gdLst/>
            <a:ahLst/>
            <a:cxnLst/>
            <a:rect l="l" t="t" r="r" b="b"/>
            <a:pathLst>
              <a:path w="4298771" h="4647320">
                <a:moveTo>
                  <a:pt x="0" y="0"/>
                </a:moveTo>
                <a:lnTo>
                  <a:pt x="4298771" y="0"/>
                </a:lnTo>
                <a:lnTo>
                  <a:pt x="4298771" y="4647320"/>
                </a:lnTo>
                <a:lnTo>
                  <a:pt x="0" y="46473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16" name="TextBox 16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818" t="-78926" r="-32997" b="-117912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871862" y="5639681"/>
            <a:ext cx="15730338" cy="4935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400" dirty="0"/>
              <a:t>Smart Expense Tracking &amp; Budgeting – Category-wise expense logging with interactive dashboards and automated budget-limit alerts for smarter personal finance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AI-Powered Fraud Prevention – OCR-based receipt verification and anomaly detection to flag duplicate/unusual expenses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Automated Payments – Instant simulated reimbursements with multi-currency support for global transactions, advancing financial inclusion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Role-Based Approval Workflow – Multi-tier approval (Employee → Manager → Admin) with real-time, color-coded status tracking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Admin &amp; User Management – Secure directory management linking employees to managers with strict access control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Secure Data Persistence – Auto-saving local vault with one-click JSON backup/restore and admin reset controls</a:t>
            </a:r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098791"/>
            <a:ext cx="18288000" cy="181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b="1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WORKFLOW DIAGRAM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4050000"/>
            <a:ext cx="16488000" cy="15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000" dirty="0"/>
              <a:t>Flow: Employee submits expense (with receipt) → OCR extracts &amp; verifies details → Anomaly detection flags irregular claims → Manager reviews (MANAGER_APPROVED) → Admin gives final approval (APPROVED) → Payment gateway triggers reimbursement to employee's account, with multi-currency conversion applied → Data auto-saved to local vault with backup/export options.</a:t>
            </a:r>
            <a:endParaRPr lang="en-US" sz="2800" dirty="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Freeform 4"/>
          <p:cNvSpPr/>
          <p:nvPr/>
        </p:nvSpPr>
        <p:spPr>
          <a:xfrm rot="-10800000">
            <a:off x="15469580" y="7462696"/>
            <a:ext cx="2818420" cy="2824304"/>
          </a:xfrm>
          <a:custGeom>
            <a:avLst/>
            <a:gdLst/>
            <a:ahLst/>
            <a:cxnLst/>
            <a:rect l="l" t="t" r="r" b="b"/>
            <a:pathLst>
              <a:path w="2818420" h="2824304">
                <a:moveTo>
                  <a:pt x="0" y="0"/>
                </a:moveTo>
                <a:lnTo>
                  <a:pt x="2818420" y="0"/>
                </a:lnTo>
                <a:lnTo>
                  <a:pt x="2818420" y="2824304"/>
                </a:lnTo>
                <a:lnTo>
                  <a:pt x="0" y="28243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4172" y="-300789"/>
            <a:ext cx="5495237" cy="5940797"/>
          </a:xfrm>
          <a:custGeom>
            <a:avLst/>
            <a:gdLst/>
            <a:ahLst/>
            <a:cxnLst/>
            <a:rect l="l" t="t" r="r" b="b"/>
            <a:pathLst>
              <a:path w="5495237" h="5940797">
                <a:moveTo>
                  <a:pt x="0" y="0"/>
                </a:moveTo>
                <a:lnTo>
                  <a:pt x="5495237" y="0"/>
                </a:lnTo>
                <a:lnTo>
                  <a:pt x="5495237" y="5940797"/>
                </a:lnTo>
                <a:lnTo>
                  <a:pt x="0" y="59407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64172" y="9578225"/>
            <a:ext cx="9011810" cy="544464"/>
          </a:xfrm>
          <a:custGeom>
            <a:avLst/>
            <a:gdLst/>
            <a:ahLst/>
            <a:cxnLst/>
            <a:rect l="l" t="t" r="r" b="b"/>
            <a:pathLst>
              <a:path w="9011810" h="544464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 flipH="1" flipV="1">
            <a:off x="13452275" y="-209159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621558" y="30199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10" name="TextBox 10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818" t="-78926" r="-32997" b="-117912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3" name="Rounded Rectangle 12"/>
          <p:cNvSpPr/>
          <p:nvPr/>
        </p:nvSpPr>
        <p:spPr>
          <a:xfrm>
            <a:off x="800000" y="5750000"/>
            <a:ext cx="1795714" cy="990000"/>
          </a:xfrm>
          <a:prstGeom prst="roundRect">
            <a:avLst>
              <a:gd name="adj" fmla="val 12000"/>
            </a:avLst>
          </a:prstGeom>
          <a:solidFill>
            <a:srgbClr val="F9D845"/>
          </a:solidFill>
          <a:ln w="15875">
            <a:solidFill>
              <a:srgbClr val="013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0000" bIns="30000"/>
          <a:lstStyle/>
          <a:p>
            <a:pPr algn="ctr"/>
            <a:r>
              <a:rPr b="1" sz="1300">
                <a:solidFill>
                  <a:srgbClr val="01386A"/>
                </a:solidFill>
                <a:latin typeface="DM Sans"/>
              </a:rPr>
              <a:t>1. </a:t>
            </a:r>
            <a:r>
              <a:rPr b="1" sz="1300">
                <a:solidFill>
                  <a:srgbClr val="01386A"/>
                </a:solidFill>
                <a:latin typeface="DM Sans"/>
              </a:rPr>
              <a:t>Submit Expense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00" y="6860000"/>
            <a:ext cx="1795714" cy="2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>
                <a:solidFill>
                  <a:srgbClr val="545454"/>
                </a:solidFill>
                <a:latin typeface="DM Sans"/>
              </a:rPr>
              <a:t>Employee submits expense with receipt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95714" y="6155000"/>
            <a:ext cx="330000" cy="180000"/>
          </a:xfrm>
          <a:prstGeom prst="rightArrow">
            <a:avLst/>
          </a:prstGeom>
          <a:solidFill>
            <a:srgbClr val="013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25714" y="5750000"/>
            <a:ext cx="1795714" cy="9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13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0000" bIns="30000"/>
          <a:lstStyle/>
          <a:p>
            <a:pPr algn="ctr"/>
            <a:r>
              <a:rPr b="1" sz="1300">
                <a:solidFill>
                  <a:srgbClr val="01386A"/>
                </a:solidFill>
                <a:latin typeface="DM Sans"/>
              </a:rPr>
              <a:t>2. </a:t>
            </a:r>
            <a:r>
              <a:rPr b="1" sz="1300">
                <a:solidFill>
                  <a:srgbClr val="01386A"/>
                </a:solidFill>
                <a:latin typeface="DM Sans"/>
              </a:rPr>
              <a:t>OCR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5714" y="6860000"/>
            <a:ext cx="1795714" cy="2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>
                <a:solidFill>
                  <a:srgbClr val="545454"/>
                </a:solidFill>
                <a:latin typeface="DM Sans"/>
              </a:rPr>
              <a:t>OCR extracts &amp; verifies receipt details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21428" y="6155000"/>
            <a:ext cx="330000" cy="180000"/>
          </a:xfrm>
          <a:prstGeom prst="rightArrow">
            <a:avLst/>
          </a:prstGeom>
          <a:solidFill>
            <a:srgbClr val="013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51428" y="5750000"/>
            <a:ext cx="1795714" cy="990000"/>
          </a:xfrm>
          <a:prstGeom prst="roundRect">
            <a:avLst>
              <a:gd name="adj" fmla="val 12000"/>
            </a:avLst>
          </a:prstGeom>
          <a:solidFill>
            <a:srgbClr val="F9D845"/>
          </a:solidFill>
          <a:ln w="15875">
            <a:solidFill>
              <a:srgbClr val="013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0000" bIns="30000"/>
          <a:lstStyle/>
          <a:p>
            <a:pPr algn="ctr"/>
            <a:r>
              <a:rPr b="1" sz="1300">
                <a:solidFill>
                  <a:srgbClr val="01386A"/>
                </a:solidFill>
                <a:latin typeface="DM Sans"/>
              </a:rPr>
              <a:t>3. </a:t>
            </a:r>
            <a:r>
              <a:rPr b="1" sz="1300">
                <a:solidFill>
                  <a:srgbClr val="01386A"/>
                </a:solidFill>
                <a:latin typeface="DM Sans"/>
              </a:rPr>
              <a:t>Fraud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1428" y="6860000"/>
            <a:ext cx="1795714" cy="2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>
                <a:solidFill>
                  <a:srgbClr val="545454"/>
                </a:solidFill>
                <a:latin typeface="DM Sans"/>
              </a:rPr>
              <a:t>Anomaly detection flags irregular claims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847142" y="6155000"/>
            <a:ext cx="330000" cy="180000"/>
          </a:xfrm>
          <a:prstGeom prst="rightArrow">
            <a:avLst/>
          </a:prstGeom>
          <a:solidFill>
            <a:srgbClr val="013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77142" y="5750000"/>
            <a:ext cx="1795714" cy="9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13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0000" bIns="30000"/>
          <a:lstStyle/>
          <a:p>
            <a:pPr algn="ctr"/>
            <a:r>
              <a:rPr b="1" sz="1300">
                <a:solidFill>
                  <a:srgbClr val="01386A"/>
                </a:solidFill>
                <a:latin typeface="DM Sans"/>
              </a:rPr>
              <a:t>4. </a:t>
            </a:r>
            <a:r>
              <a:rPr b="1" sz="1300">
                <a:solidFill>
                  <a:srgbClr val="01386A"/>
                </a:solidFill>
                <a:latin typeface="DM Sans"/>
              </a:rPr>
              <a:t>Manager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7142" y="6860000"/>
            <a:ext cx="1795714" cy="2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>
                <a:solidFill>
                  <a:srgbClr val="545454"/>
                </a:solidFill>
                <a:latin typeface="DM Sans"/>
              </a:rPr>
              <a:t>Manager approves the claim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972856" y="6155000"/>
            <a:ext cx="330000" cy="180000"/>
          </a:xfrm>
          <a:prstGeom prst="rightArrow">
            <a:avLst/>
          </a:prstGeom>
          <a:solidFill>
            <a:srgbClr val="013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02856" y="5750000"/>
            <a:ext cx="1795714" cy="990000"/>
          </a:xfrm>
          <a:prstGeom prst="roundRect">
            <a:avLst>
              <a:gd name="adj" fmla="val 12000"/>
            </a:avLst>
          </a:prstGeom>
          <a:solidFill>
            <a:srgbClr val="F9D845"/>
          </a:solidFill>
          <a:ln w="15875">
            <a:solidFill>
              <a:srgbClr val="013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0000" bIns="30000"/>
          <a:lstStyle/>
          <a:p>
            <a:pPr algn="ctr"/>
            <a:r>
              <a:rPr b="1" sz="1300">
                <a:solidFill>
                  <a:srgbClr val="01386A"/>
                </a:solidFill>
                <a:latin typeface="DM Sans"/>
              </a:rPr>
              <a:t>5. </a:t>
            </a:r>
            <a:r>
              <a:rPr b="1" sz="1300">
                <a:solidFill>
                  <a:srgbClr val="01386A"/>
                </a:solidFill>
                <a:latin typeface="DM Sans"/>
              </a:rPr>
              <a:t>Admin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2856" y="6860000"/>
            <a:ext cx="1795714" cy="2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>
                <a:solidFill>
                  <a:srgbClr val="545454"/>
                </a:solidFill>
                <a:latin typeface="DM Sans"/>
              </a:rPr>
              <a:t>Admin gives final approval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098570" y="6155000"/>
            <a:ext cx="330000" cy="180000"/>
          </a:xfrm>
          <a:prstGeom prst="rightArrow">
            <a:avLst/>
          </a:prstGeom>
          <a:solidFill>
            <a:srgbClr val="013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28570" y="5750000"/>
            <a:ext cx="1795714" cy="9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13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0000" bIns="30000"/>
          <a:lstStyle/>
          <a:p>
            <a:pPr algn="ctr"/>
            <a:r>
              <a:rPr b="1" sz="1300">
                <a:solidFill>
                  <a:srgbClr val="01386A"/>
                </a:solidFill>
                <a:latin typeface="DM Sans"/>
              </a:rPr>
              <a:t>6. </a:t>
            </a:r>
            <a:r>
              <a:rPr b="1" sz="1300">
                <a:solidFill>
                  <a:srgbClr val="01386A"/>
                </a:solidFill>
                <a:latin typeface="DM Sans"/>
              </a:rPr>
              <a:t>Payment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28570" y="6860000"/>
            <a:ext cx="1795714" cy="2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>
                <a:solidFill>
                  <a:srgbClr val="545454"/>
                </a:solidFill>
                <a:latin typeface="DM Sans"/>
              </a:rPr>
              <a:t>Multi-currency reimbursement is triggered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3224284" y="6155000"/>
            <a:ext cx="330000" cy="180000"/>
          </a:xfrm>
          <a:prstGeom prst="rightArrow">
            <a:avLst/>
          </a:prstGeom>
          <a:solidFill>
            <a:srgbClr val="013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3554284" y="5750000"/>
            <a:ext cx="1795714" cy="990000"/>
          </a:xfrm>
          <a:prstGeom prst="roundRect">
            <a:avLst>
              <a:gd name="adj" fmla="val 12000"/>
            </a:avLst>
          </a:prstGeom>
          <a:solidFill>
            <a:srgbClr val="F9D845"/>
          </a:solidFill>
          <a:ln w="15875">
            <a:solidFill>
              <a:srgbClr val="013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0000" bIns="30000"/>
          <a:lstStyle/>
          <a:p>
            <a:pPr algn="ctr"/>
            <a:r>
              <a:rPr b="1" sz="1300">
                <a:solidFill>
                  <a:srgbClr val="01386A"/>
                </a:solidFill>
                <a:latin typeface="DM Sans"/>
              </a:rPr>
              <a:t>7. </a:t>
            </a:r>
            <a:r>
              <a:rPr b="1" sz="1300">
                <a:solidFill>
                  <a:srgbClr val="01386A"/>
                </a:solidFill>
                <a:latin typeface="DM Sans"/>
              </a:rPr>
              <a:t>Data Vault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54284" y="6860000"/>
            <a:ext cx="1795714" cy="2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>
                <a:solidFill>
                  <a:srgbClr val="545454"/>
                </a:solidFill>
                <a:latin typeface="DM Sans"/>
              </a:rPr>
              <a:t>Auto-saved with backup &amp;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70551" y="2686860"/>
            <a:ext cx="8927847" cy="730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sz="5600" b="1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&amp; IMPACT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44000" y="4850000"/>
            <a:ext cx="13000000" cy="510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 err="1"/>
              <a:t>LedgerCore</a:t>
            </a:r>
            <a:r>
              <a:rPr lang="en-US" sz="2800" b="1" dirty="0"/>
              <a:t> modernizes corporate expense management by combining AI-driven fraud prevention with a transparent, role-based approval system. By automating payments and reimbursements across multi-currency transactions, it reduces financial fraud, cuts down manual processing time, and promotes personal finance management and financial inclusion — making expense management faster, safer, and more accessible for organizations of any size</a:t>
            </a:r>
            <a:r>
              <a:rPr lang="en-US" sz="2800" dirty="0"/>
              <a:t>.</a:t>
            </a:r>
            <a:endParaRPr lang="en-US" sz="2808" dirty="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8" t="-78926" r="-32997" b="-11791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8" t="-78926" r="-32997" b="-117912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8" t="-78926" r="-32997" b="-117912"/>
            </a:stretch>
          </a:blipFill>
        </p:spPr>
      </p:sp>
      <p:sp>
        <p:nvSpPr>
          <p:cNvPr id="7" name="Freeform 7"/>
          <p:cNvSpPr/>
          <p:nvPr/>
        </p:nvSpPr>
        <p:spPr>
          <a:xfrm rot="-5400000" flipH="1" flipV="1">
            <a:off x="13672854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601579" y="30199"/>
            <a:ext cx="3996168" cy="4004511"/>
          </a:xfrm>
          <a:custGeom>
            <a:avLst/>
            <a:gdLst/>
            <a:ahLst/>
            <a:cxnLst/>
            <a:rect l="l" t="t" r="r" b="b"/>
            <a:pathLst>
              <a:path w="3996168" h="4004511">
                <a:moveTo>
                  <a:pt x="0" y="0"/>
                </a:moveTo>
                <a:lnTo>
                  <a:pt x="3996168" y="0"/>
                </a:lnTo>
                <a:lnTo>
                  <a:pt x="3996168" y="4004511"/>
                </a:lnTo>
                <a:lnTo>
                  <a:pt x="0" y="40045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-20754"/>
            <a:ext cx="4317968" cy="4668074"/>
          </a:xfrm>
          <a:custGeom>
            <a:avLst/>
            <a:gdLst/>
            <a:ahLst/>
            <a:cxnLst/>
            <a:rect l="l" t="t" r="r" b="b"/>
            <a:pathLst>
              <a:path w="4317968" h="4668074">
                <a:moveTo>
                  <a:pt x="0" y="0"/>
                </a:moveTo>
                <a:lnTo>
                  <a:pt x="4317968" y="0"/>
                </a:lnTo>
                <a:lnTo>
                  <a:pt x="4317968" y="4668074"/>
                </a:lnTo>
                <a:lnTo>
                  <a:pt x="0" y="4668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2273456" y="1800046"/>
            <a:ext cx="2427304" cy="1617191"/>
          </a:xfrm>
          <a:custGeom>
            <a:avLst/>
            <a:gdLst/>
            <a:ahLst/>
            <a:cxnLst/>
            <a:rect l="l" t="t" r="r" b="b"/>
            <a:pathLst>
              <a:path w="2427304" h="1617191">
                <a:moveTo>
                  <a:pt x="0" y="0"/>
                </a:moveTo>
                <a:lnTo>
                  <a:pt x="2427304" y="0"/>
                </a:lnTo>
                <a:lnTo>
                  <a:pt x="2427304" y="1617191"/>
                </a:lnTo>
                <a:lnTo>
                  <a:pt x="0" y="1617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12" name="TextBox 12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818" t="-78926" r="-32997" b="-11791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33915" y="4208460"/>
            <a:ext cx="10620170" cy="1638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99"/>
              </a:lnSpc>
            </a:pPr>
            <a:r>
              <a:rPr lang="en-US" sz="12399" b="1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6004548" y="6644568"/>
            <a:ext cx="5931354" cy="358353"/>
          </a:xfrm>
          <a:custGeom>
            <a:avLst/>
            <a:gdLst/>
            <a:ahLst/>
            <a:cxnLst/>
            <a:rect l="l" t="t" r="r" b="b"/>
            <a:pathLst>
              <a:path w="5931354" h="358353">
                <a:moveTo>
                  <a:pt x="0" y="0"/>
                </a:moveTo>
                <a:lnTo>
                  <a:pt x="5931354" y="0"/>
                </a:lnTo>
                <a:lnTo>
                  <a:pt x="5931354" y="358352"/>
                </a:lnTo>
                <a:lnTo>
                  <a:pt x="0" y="358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81526" y="0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81438" y="6304600"/>
            <a:ext cx="5297854" cy="5271365"/>
          </a:xfrm>
          <a:custGeom>
            <a:avLst/>
            <a:gdLst/>
            <a:ahLst/>
            <a:cxnLst/>
            <a:rect l="l" t="t" r="r" b="b"/>
            <a:pathLst>
              <a:path w="5297854" h="5271365">
                <a:moveTo>
                  <a:pt x="0" y="0"/>
                </a:moveTo>
                <a:lnTo>
                  <a:pt x="5297854" y="0"/>
                </a:lnTo>
                <a:lnTo>
                  <a:pt x="5297854" y="5271365"/>
                </a:lnTo>
                <a:lnTo>
                  <a:pt x="0" y="5271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818" t="-78926" r="-32997" b="-11791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00263" y="-180474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818" t="-78926" r="-32997" b="-11791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818" t="-78926" r="-32997" b="-117912"/>
            </a:stretch>
          </a:blipFill>
        </p:spPr>
      </p:sp>
      <p:sp>
        <p:nvSpPr>
          <p:cNvPr id="10" name="Freeform 10"/>
          <p:cNvSpPr/>
          <p:nvPr/>
        </p:nvSpPr>
        <p:spPr>
          <a:xfrm rot="-5400000" flipH="1" flipV="1">
            <a:off x="13672854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12" name="TextBox 12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818" t="-78926" r="-32997" b="-11791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622</Words>
  <Application>Microsoft Office PowerPoint</Application>
  <PresentationFormat>Custom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DM Sans</vt:lpstr>
      <vt:lpstr>Open Sans Bold</vt:lpstr>
      <vt:lpstr>Calibri</vt:lpstr>
      <vt:lpstr>Arial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White Minimalist Elegant Presentation</dc:title>
  <cp:lastModifiedBy>Saptak Bhattacharyya</cp:lastModifiedBy>
  <cp:revision>2</cp:revision>
  <dcterms:created xsi:type="dcterms:W3CDTF">2006-08-16T00:00:00Z</dcterms:created>
  <dcterms:modified xsi:type="dcterms:W3CDTF">2026-07-31T09:12:27Z</dcterms:modified>
  <dc:identifier>DAHOogCGmek</dc:identifier>
</cp:coreProperties>
</file>