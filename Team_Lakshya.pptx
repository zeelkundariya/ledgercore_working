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DM Sans" pitchFamily="2" charset="0"/>
      <p:regular r:id="rId10"/>
    </p:embeddedFont>
    <p:embeddedFont>
      <p:font typeface="Montserrat Bold" panose="020B0604020202020204" charset="0"/>
      <p:regular r:id="rId11"/>
    </p:embeddedFont>
    <p:embeddedFont>
      <p:font typeface="Open Sans Bold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946" y="38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nip161206@gmail.com" userId="9fb1487668a4d33a" providerId="LiveId" clId="{DE4227F7-3319-4121-BE8A-24C73663C162}"/>
    <pc:docChg chg="undo custSel modSld">
      <pc:chgData name="ranip161206@gmail.com" userId="9fb1487668a4d33a" providerId="LiveId" clId="{DE4227F7-3319-4121-BE8A-24C73663C162}" dt="2026-07-23T16:52:16.118" v="37" actId="14100"/>
      <pc:docMkLst>
        <pc:docMk/>
      </pc:docMkLst>
      <pc:sldChg chg="modSp mod">
        <pc:chgData name="ranip161206@gmail.com" userId="9fb1487668a4d33a" providerId="LiveId" clId="{DE4227F7-3319-4121-BE8A-24C73663C162}" dt="2026-07-23T16:52:16.118" v="37" actId="14100"/>
        <pc:sldMkLst>
          <pc:docMk/>
          <pc:sldMk cId="0" sldId="256"/>
        </pc:sldMkLst>
        <pc:spChg chg="mod">
          <ac:chgData name="ranip161206@gmail.com" userId="9fb1487668a4d33a" providerId="LiveId" clId="{DE4227F7-3319-4121-BE8A-24C73663C162}" dt="2026-07-22T17:37:15.125" v="10" actId="20577"/>
          <ac:spMkLst>
            <pc:docMk/>
            <pc:sldMk cId="0" sldId="256"/>
            <ac:spMk id="6" creationId="{00000000-0000-0000-0000-000000000000}"/>
          </ac:spMkLst>
        </pc:spChg>
        <pc:spChg chg="mod">
          <ac:chgData name="ranip161206@gmail.com" userId="9fb1487668a4d33a" providerId="LiveId" clId="{DE4227F7-3319-4121-BE8A-24C73663C162}" dt="2026-07-23T16:51:54.375" v="34" actId="1076"/>
          <ac:spMkLst>
            <pc:docMk/>
            <pc:sldMk cId="0" sldId="256"/>
            <ac:spMk id="7" creationId="{00000000-0000-0000-0000-000000000000}"/>
          </ac:spMkLst>
        </pc:spChg>
        <pc:spChg chg="mod">
          <ac:chgData name="ranip161206@gmail.com" userId="9fb1487668a4d33a" providerId="LiveId" clId="{DE4227F7-3319-4121-BE8A-24C73663C162}" dt="2026-07-23T16:51:06.109" v="23" actId="1076"/>
          <ac:spMkLst>
            <pc:docMk/>
            <pc:sldMk cId="0" sldId="256"/>
            <ac:spMk id="10" creationId="{00000000-0000-0000-0000-000000000000}"/>
          </ac:spMkLst>
        </pc:spChg>
        <pc:spChg chg="mod">
          <ac:chgData name="ranip161206@gmail.com" userId="9fb1487668a4d33a" providerId="LiveId" clId="{DE4227F7-3319-4121-BE8A-24C73663C162}" dt="2026-07-23T16:51:50.059" v="33" actId="1076"/>
          <ac:spMkLst>
            <pc:docMk/>
            <pc:sldMk cId="0" sldId="256"/>
            <ac:spMk id="12" creationId="{00000000-0000-0000-0000-000000000000}"/>
          </ac:spMkLst>
        </pc:spChg>
        <pc:spChg chg="mod">
          <ac:chgData name="ranip161206@gmail.com" userId="9fb1487668a4d33a" providerId="LiveId" clId="{DE4227F7-3319-4121-BE8A-24C73663C162}" dt="2026-07-23T16:52:16.118" v="37" actId="14100"/>
          <ac:spMkLst>
            <pc:docMk/>
            <pc:sldMk cId="0" sldId="256"/>
            <ac:spMk id="13" creationId="{00000000-0000-0000-0000-000000000000}"/>
          </ac:spMkLst>
        </pc:spChg>
        <pc:spChg chg="mod">
          <ac:chgData name="ranip161206@gmail.com" userId="9fb1487668a4d33a" providerId="LiveId" clId="{DE4227F7-3319-4121-BE8A-24C73663C162}" dt="2026-07-23T16:51:37.793" v="30" actId="1076"/>
          <ac:spMkLst>
            <pc:docMk/>
            <pc:sldMk cId="0" sldId="256"/>
            <ac:spMk id="15" creationId="{00000000-0000-0000-0000-000000000000}"/>
          </ac:spMkLst>
        </pc:spChg>
        <pc:spChg chg="mod">
          <ac:chgData name="ranip161206@gmail.com" userId="9fb1487668a4d33a" providerId="LiveId" clId="{DE4227F7-3319-4121-BE8A-24C73663C162}" dt="2026-07-23T16:51:42.720" v="31" actId="1076"/>
          <ac:spMkLst>
            <pc:docMk/>
            <pc:sldMk cId="0" sldId="256"/>
            <ac:spMk id="23" creationId="{00000000-0000-0000-0000-000000000000}"/>
          </ac:spMkLst>
        </pc:spChg>
        <pc:spChg chg="mod">
          <ac:chgData name="ranip161206@gmail.com" userId="9fb1487668a4d33a" providerId="LiveId" clId="{DE4227F7-3319-4121-BE8A-24C73663C162}" dt="2026-07-23T16:51:28.915" v="28" actId="1076"/>
          <ac:spMkLst>
            <pc:docMk/>
            <pc:sldMk cId="0" sldId="256"/>
            <ac:spMk id="2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D1B97B-11E8-4F00-8916-3BA0F2777C26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05946D-CE16-442D-97D1-522891B64C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614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5946D-CE16-442D-97D1-522891B64C7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104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5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1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5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4.pn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3.svg"/><Relationship Id="rId4" Type="http://schemas.openxmlformats.org/officeDocument/2006/relationships/image" Target="../media/image1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7" Type="http://schemas.openxmlformats.org/officeDocument/2006/relationships/image" Target="../media/image10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5.pn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svg"/><Relationship Id="rId5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13640680" y="5712464"/>
            <a:ext cx="4647320" cy="5024130"/>
          </a:xfrm>
          <a:custGeom>
            <a:avLst/>
            <a:gdLst/>
            <a:ahLst/>
            <a:cxnLst/>
            <a:rect l="l" t="t" r="r" b="b"/>
            <a:pathLst>
              <a:path w="4647320" h="5024130">
                <a:moveTo>
                  <a:pt x="0" y="0"/>
                </a:moveTo>
                <a:lnTo>
                  <a:pt x="4647320" y="0"/>
                </a:lnTo>
                <a:lnTo>
                  <a:pt x="4647320" y="5024130"/>
                </a:lnTo>
                <a:lnTo>
                  <a:pt x="0" y="50241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-246407" y="8080600"/>
            <a:ext cx="2245526" cy="2607287"/>
          </a:xfrm>
          <a:custGeom>
            <a:avLst/>
            <a:gdLst/>
            <a:ahLst/>
            <a:cxnLst/>
            <a:rect l="l" t="t" r="r" b="b"/>
            <a:pathLst>
              <a:path w="2245526" h="2607287">
                <a:moveTo>
                  <a:pt x="0" y="0"/>
                </a:moveTo>
                <a:lnTo>
                  <a:pt x="2245526" y="0"/>
                </a:lnTo>
                <a:lnTo>
                  <a:pt x="2245526" y="2607286"/>
                </a:lnTo>
                <a:lnTo>
                  <a:pt x="0" y="26072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5400000" flipH="1" flipV="1">
            <a:off x="13452275" y="-158206"/>
            <a:ext cx="4647320" cy="5024130"/>
          </a:xfrm>
          <a:custGeom>
            <a:avLst/>
            <a:gdLst/>
            <a:ahLst/>
            <a:cxnLst/>
            <a:rect l="l" t="t" r="r" b="b"/>
            <a:pathLst>
              <a:path w="4647320" h="5024130">
                <a:moveTo>
                  <a:pt x="4647320" y="5024130"/>
                </a:moveTo>
                <a:lnTo>
                  <a:pt x="0" y="5024130"/>
                </a:lnTo>
                <a:lnTo>
                  <a:pt x="0" y="0"/>
                </a:lnTo>
                <a:lnTo>
                  <a:pt x="4647320" y="0"/>
                </a:lnTo>
                <a:lnTo>
                  <a:pt x="4647320" y="502413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4075801" y="1893830"/>
            <a:ext cx="9911987" cy="1687274"/>
            <a:chOff x="0" y="142875"/>
            <a:chExt cx="13215983" cy="2249698"/>
          </a:xfrm>
        </p:grpSpPr>
        <p:sp>
          <p:nvSpPr>
            <p:cNvPr id="6" name="TextBox 6"/>
            <p:cNvSpPr txBox="1"/>
            <p:nvPr/>
          </p:nvSpPr>
          <p:spPr>
            <a:xfrm>
              <a:off x="0" y="142875"/>
              <a:ext cx="13215983" cy="12437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230"/>
                </a:lnSpc>
              </a:pPr>
              <a:r>
                <a:rPr lang="en-US" sz="7200" b="1" dirty="0"/>
                <a:t>Team Lakshya</a:t>
              </a:r>
              <a:endParaRPr lang="en-US" sz="7200" b="1" dirty="0">
                <a:solidFill>
                  <a:srgbClr val="01386A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796600" y="1571836"/>
              <a:ext cx="5863319" cy="8207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800"/>
                </a:lnSpc>
              </a:pPr>
              <a:r>
                <a:rPr lang="en-US" sz="4400" b="1" dirty="0" err="1"/>
                <a:t>SkillSphere</a:t>
              </a:r>
              <a:r>
                <a:rPr lang="en-US" sz="4400" b="1" dirty="0"/>
                <a:t> AI</a:t>
              </a:r>
              <a:endParaRPr lang="en-US" sz="4400" b="1" dirty="0">
                <a:solidFill>
                  <a:srgbClr val="545454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140481" y="4059670"/>
            <a:ext cx="6356319" cy="5668369"/>
            <a:chOff x="-104036" y="178328"/>
            <a:chExt cx="8475092" cy="7557826"/>
          </a:xfrm>
        </p:grpSpPr>
        <p:grpSp>
          <p:nvGrpSpPr>
            <p:cNvPr id="9" name="Group 9"/>
            <p:cNvGrpSpPr/>
            <p:nvPr/>
          </p:nvGrpSpPr>
          <p:grpSpPr>
            <a:xfrm>
              <a:off x="-104036" y="178328"/>
              <a:ext cx="1342439" cy="3691080"/>
              <a:chOff x="-66682" y="114300"/>
              <a:chExt cx="860442" cy="2365812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-66682" y="1667312"/>
                <a:ext cx="86044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60442" h="812800">
                    <a:moveTo>
                      <a:pt x="430221" y="0"/>
                    </a:moveTo>
                    <a:cubicBezTo>
                      <a:pt x="192616" y="0"/>
                      <a:pt x="0" y="181951"/>
                      <a:pt x="0" y="406400"/>
                    </a:cubicBezTo>
                    <a:cubicBezTo>
                      <a:pt x="0" y="630849"/>
                      <a:pt x="192616" y="812800"/>
                      <a:pt x="430221" y="812800"/>
                    </a:cubicBezTo>
                    <a:cubicBezTo>
                      <a:pt x="667825" y="812800"/>
                      <a:pt x="860442" y="630849"/>
                      <a:pt x="860442" y="406400"/>
                    </a:cubicBezTo>
                    <a:cubicBezTo>
                      <a:pt x="860442" y="181951"/>
                      <a:pt x="667825" y="0"/>
                      <a:pt x="430221" y="0"/>
                    </a:cubicBezTo>
                    <a:close/>
                  </a:path>
                </a:pathLst>
              </a:custGeom>
              <a:solidFill>
                <a:srgbClr val="01386A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80666" y="114300"/>
                <a:ext cx="699109" cy="622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00"/>
                  </a:lnSpc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2007064" y="2931304"/>
              <a:ext cx="4722964" cy="78594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4317"/>
                </a:lnSpc>
              </a:pPr>
              <a:r>
                <a:rPr lang="en-US" sz="4800" dirty="0">
                  <a:solidFill>
                    <a:srgbClr val="545454"/>
                  </a:solidFill>
                  <a:latin typeface="DM Sans"/>
                  <a:ea typeface="DM Sans"/>
                  <a:cs typeface="DM Sans"/>
                  <a:sym typeface="DM Sans"/>
                </a:rPr>
                <a:t>Rani Patel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007064" y="546181"/>
              <a:ext cx="6363992" cy="82441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4593"/>
                </a:lnSpc>
              </a:pPr>
              <a:r>
                <a:rPr lang="en-US" sz="4800" dirty="0">
                  <a:solidFill>
                    <a:srgbClr val="545454"/>
                  </a:solidFill>
                  <a:latin typeface="DM Sans"/>
                  <a:ea typeface="DM Sans"/>
                  <a:cs typeface="DM Sans"/>
                  <a:sym typeface="DM Sans"/>
                </a:rPr>
                <a:t>Zeel Kundariya</a:t>
              </a:r>
            </a:p>
          </p:txBody>
        </p:sp>
        <p:grpSp>
          <p:nvGrpSpPr>
            <p:cNvPr id="14" name="Group 14"/>
            <p:cNvGrpSpPr/>
            <p:nvPr/>
          </p:nvGrpSpPr>
          <p:grpSpPr>
            <a:xfrm>
              <a:off x="-15922" y="259435"/>
              <a:ext cx="1342439" cy="3064841"/>
              <a:chOff x="-27334" y="-1227822"/>
              <a:chExt cx="860442" cy="1964422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-27334" y="-1227822"/>
                <a:ext cx="86044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60442" h="812800">
                    <a:moveTo>
                      <a:pt x="430221" y="0"/>
                    </a:moveTo>
                    <a:cubicBezTo>
                      <a:pt x="192616" y="0"/>
                      <a:pt x="0" y="181951"/>
                      <a:pt x="0" y="406400"/>
                    </a:cubicBezTo>
                    <a:cubicBezTo>
                      <a:pt x="0" y="630849"/>
                      <a:pt x="192616" y="812800"/>
                      <a:pt x="430221" y="812800"/>
                    </a:cubicBezTo>
                    <a:cubicBezTo>
                      <a:pt x="667825" y="812800"/>
                      <a:pt x="860442" y="630849"/>
                      <a:pt x="860442" y="406400"/>
                    </a:cubicBezTo>
                    <a:cubicBezTo>
                      <a:pt x="860442" y="181951"/>
                      <a:pt x="667825" y="0"/>
                      <a:pt x="430221" y="0"/>
                    </a:cubicBezTo>
                    <a:close/>
                  </a:path>
                </a:pathLst>
              </a:custGeom>
              <a:solidFill>
                <a:srgbClr val="01386A"/>
              </a:solid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80666" y="114300"/>
                <a:ext cx="699109" cy="622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00"/>
                  </a:lnSpc>
                </a:pPr>
                <a:endParaRPr/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174289" y="4539676"/>
              <a:ext cx="1047307" cy="9322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28184" y="6800439"/>
              <a:ext cx="1051208" cy="9357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36837" y="523289"/>
              <a:ext cx="539460" cy="81509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4983"/>
                </a:lnSpc>
              </a:pPr>
              <a:r>
                <a:rPr lang="en-US" sz="3559" dirty="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1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52760" y="2884694"/>
              <a:ext cx="428844" cy="66710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4050"/>
                </a:lnSpc>
              </a:pPr>
              <a:r>
                <a:rPr lang="en-US" sz="2893" dirty="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38833" y="4606555"/>
              <a:ext cx="318220" cy="6860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25"/>
                </a:lnSpc>
              </a:pPr>
              <a:endParaRPr lang="en-US" sz="3018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85579" y="6877339"/>
              <a:ext cx="328540" cy="6674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41"/>
                </a:lnSpc>
              </a:pPr>
              <a:r>
                <a:rPr lang="en-US" sz="302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575934" y="4673230"/>
              <a:ext cx="3185638" cy="7352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317"/>
                </a:lnSpc>
              </a:pPr>
              <a:endParaRPr lang="en-US" sz="3597" dirty="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575934" y="6877934"/>
              <a:ext cx="3185638" cy="7352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317"/>
                </a:lnSpc>
              </a:pPr>
              <a:endParaRPr lang="en-US" sz="3597" dirty="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29" name="Freeform 29"/>
          <p:cNvSpPr/>
          <p:nvPr/>
        </p:nvSpPr>
        <p:spPr>
          <a:xfrm>
            <a:off x="-621558" y="30199"/>
            <a:ext cx="4106228" cy="4114800"/>
          </a:xfrm>
          <a:custGeom>
            <a:avLst/>
            <a:gdLst/>
            <a:ahLst/>
            <a:cxnLst/>
            <a:rect l="l" t="t" r="r" b="b"/>
            <a:pathLst>
              <a:path w="4106228" h="4114800">
                <a:moveTo>
                  <a:pt x="0" y="0"/>
                </a:moveTo>
                <a:lnTo>
                  <a:pt x="4106227" y="0"/>
                </a:lnTo>
                <a:lnTo>
                  <a:pt x="410622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0" y="-188405"/>
            <a:ext cx="4647320" cy="5024130"/>
          </a:xfrm>
          <a:custGeom>
            <a:avLst/>
            <a:gdLst/>
            <a:ahLst/>
            <a:cxnLst/>
            <a:rect l="l" t="t" r="r" b="b"/>
            <a:pathLst>
              <a:path w="4647320" h="5024130">
                <a:moveTo>
                  <a:pt x="0" y="0"/>
                </a:moveTo>
                <a:lnTo>
                  <a:pt x="4647320" y="0"/>
                </a:lnTo>
                <a:lnTo>
                  <a:pt x="4647320" y="5024130"/>
                </a:lnTo>
                <a:lnTo>
                  <a:pt x="0" y="50241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1" name="Group 31"/>
          <p:cNvGrpSpPr/>
          <p:nvPr/>
        </p:nvGrpSpPr>
        <p:grpSpPr>
          <a:xfrm>
            <a:off x="-236882" y="158429"/>
            <a:ext cx="18364246" cy="1740542"/>
            <a:chOff x="0" y="0"/>
            <a:chExt cx="24485662" cy="2320723"/>
          </a:xfrm>
        </p:grpSpPr>
        <p:sp>
          <p:nvSpPr>
            <p:cNvPr id="32" name="TextBox 32"/>
            <p:cNvSpPr txBox="1"/>
            <p:nvPr/>
          </p:nvSpPr>
          <p:spPr>
            <a:xfrm>
              <a:off x="5368468" y="286218"/>
              <a:ext cx="14278749" cy="15645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6"/>
                </a:lnSpc>
                <a:spcBef>
                  <a:spcPct val="0"/>
                </a:spcBef>
              </a:pPr>
              <a:r>
                <a:rPr lang="en-US" sz="2128" b="1" spc="253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Madhav Institute of Technology &amp; Science, Gwalior (M.P.), INDIA</a:t>
              </a:r>
            </a:p>
            <a:p>
              <a:pPr algn="ctr">
                <a:lnSpc>
                  <a:spcPts val="2146"/>
                </a:lnSpc>
                <a:spcBef>
                  <a:spcPct val="0"/>
                </a:spcBef>
              </a:pPr>
              <a:r>
                <a:rPr lang="en-US" sz="1480" b="1" spc="176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Deemed University</a:t>
              </a:r>
            </a:p>
            <a:p>
              <a:pPr algn="ctr">
                <a:lnSpc>
                  <a:spcPts val="2146"/>
                </a:lnSpc>
                <a:spcBef>
                  <a:spcPct val="0"/>
                </a:spcBef>
              </a:pPr>
              <a:r>
                <a:rPr lang="en-US" sz="1480" b="1" spc="176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(Declared under Distinct Category by Ministry of Education, Government of India)</a:t>
              </a:r>
            </a:p>
            <a:p>
              <a:pPr algn="ctr">
                <a:lnSpc>
                  <a:spcPts val="2146"/>
                </a:lnSpc>
                <a:spcBef>
                  <a:spcPct val="0"/>
                </a:spcBef>
              </a:pPr>
              <a:r>
                <a:rPr lang="en-US" sz="1480" b="1" spc="176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NAAC ACCREDITED WITH A++ GRADE</a:t>
              </a:r>
            </a:p>
          </p:txBody>
        </p:sp>
        <p:sp>
          <p:nvSpPr>
            <p:cNvPr id="33" name="Freeform 33"/>
            <p:cNvSpPr/>
            <p:nvPr/>
          </p:nvSpPr>
          <p:spPr>
            <a:xfrm>
              <a:off x="21019431" y="0"/>
              <a:ext cx="3466231" cy="1866194"/>
            </a:xfrm>
            <a:custGeom>
              <a:avLst/>
              <a:gdLst/>
              <a:ahLst/>
              <a:cxnLst/>
              <a:rect l="l" t="t" r="r" b="b"/>
              <a:pathLst>
                <a:path w="3466231" h="1866194">
                  <a:moveTo>
                    <a:pt x="0" y="0"/>
                  </a:moveTo>
                  <a:lnTo>
                    <a:pt x="3466231" y="0"/>
                  </a:lnTo>
                  <a:lnTo>
                    <a:pt x="3466231" y="1866194"/>
                  </a:lnTo>
                  <a:lnTo>
                    <a:pt x="0" y="18661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6818" t="-78926" r="-32997" b="-117912"/>
              </a:stretch>
            </a:blipFill>
          </p:spPr>
        </p:sp>
        <p:sp>
          <p:nvSpPr>
            <p:cNvPr id="34" name="Freeform 34"/>
            <p:cNvSpPr/>
            <p:nvPr/>
          </p:nvSpPr>
          <p:spPr>
            <a:xfrm>
              <a:off x="0" y="0"/>
              <a:ext cx="3483261" cy="2320723"/>
            </a:xfrm>
            <a:custGeom>
              <a:avLst/>
              <a:gdLst/>
              <a:ahLst/>
              <a:cxnLst/>
              <a:rect l="l" t="t" r="r" b="b"/>
              <a:pathLst>
                <a:path w="3483261" h="2320723">
                  <a:moveTo>
                    <a:pt x="0" y="0"/>
                  </a:moveTo>
                  <a:lnTo>
                    <a:pt x="3483261" y="0"/>
                  </a:lnTo>
                  <a:lnTo>
                    <a:pt x="3483261" y="2320723"/>
                  </a:lnTo>
                  <a:lnTo>
                    <a:pt x="0" y="2320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710979" y="1959928"/>
            <a:ext cx="12866041" cy="1282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99"/>
              </a:lnSpc>
            </a:pPr>
            <a:endParaRPr lang="en-US" sz="9999" b="1" dirty="0">
              <a:solidFill>
                <a:srgbClr val="01386A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4936429" y="5049174"/>
            <a:ext cx="10560782" cy="33855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000" b="1" dirty="0"/>
              <a:t>High-quality tech education and one-on-one mentorship remain expensive, making personalized learning inaccessible for many students and early-career developers.</a:t>
            </a:r>
            <a:r>
              <a:rPr lang="en-US" sz="2000" dirty="0"/>
              <a:t> </a:t>
            </a:r>
          </a:p>
          <a:p>
            <a:endParaRPr lang="en-US" sz="2000" dirty="0"/>
          </a:p>
          <a:p>
            <a:r>
              <a:rPr lang="en-US" sz="2000" b="1" dirty="0"/>
              <a:t>Millions of skilled professionals are eager to teach, but there is no intelligent platform that connects them with motivated learners.</a:t>
            </a:r>
            <a:r>
              <a:rPr lang="en-US" sz="2000" dirty="0"/>
              <a:t> </a:t>
            </a:r>
          </a:p>
          <a:p>
            <a:endParaRPr lang="en-US" sz="2000" dirty="0"/>
          </a:p>
          <a:p>
            <a:r>
              <a:rPr lang="en-US" sz="2000" b="1" dirty="0"/>
              <a:t>Existing learning communities rely on manual searching, making it difficult to find the right mentor, study partner, or skill match.</a:t>
            </a:r>
            <a:r>
              <a:rPr lang="en-US" sz="2000" dirty="0"/>
              <a:t> </a:t>
            </a:r>
          </a:p>
          <a:p>
            <a:endParaRPr lang="en-US" sz="2000" dirty="0"/>
          </a:p>
          <a:p>
            <a:r>
              <a:rPr lang="en-US" sz="2000" b="1" dirty="0"/>
              <a:t>Current platforms lack AI-driven recommendations, personalized learning paths, and engagement features, resulting in lower collaboration and slower skill development.</a:t>
            </a:r>
            <a:r>
              <a:rPr lang="en-US" sz="2000" dirty="0"/>
              <a:t> </a:t>
            </a:r>
          </a:p>
        </p:txBody>
      </p:sp>
      <p:sp>
        <p:nvSpPr>
          <p:cNvPr id="4" name="Freeform 4"/>
          <p:cNvSpPr/>
          <p:nvPr/>
        </p:nvSpPr>
        <p:spPr>
          <a:xfrm rot="-10800000">
            <a:off x="0" y="6172200"/>
            <a:ext cx="3543872" cy="4114800"/>
          </a:xfrm>
          <a:custGeom>
            <a:avLst/>
            <a:gdLst/>
            <a:ahLst/>
            <a:cxnLst/>
            <a:rect l="l" t="t" r="r" b="b"/>
            <a:pathLst>
              <a:path w="3543872" h="4114800">
                <a:moveTo>
                  <a:pt x="0" y="0"/>
                </a:moveTo>
                <a:lnTo>
                  <a:pt x="3543872" y="0"/>
                </a:lnTo>
                <a:lnTo>
                  <a:pt x="354387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4611958">
            <a:off x="15396473" y="7658553"/>
            <a:ext cx="2457677" cy="2841245"/>
          </a:xfrm>
          <a:custGeom>
            <a:avLst/>
            <a:gdLst/>
            <a:ahLst/>
            <a:cxnLst/>
            <a:rect l="l" t="t" r="r" b="b"/>
            <a:pathLst>
              <a:path w="2457677" h="2841245">
                <a:moveTo>
                  <a:pt x="0" y="0"/>
                </a:moveTo>
                <a:lnTo>
                  <a:pt x="2457676" y="0"/>
                </a:lnTo>
                <a:lnTo>
                  <a:pt x="2457676" y="2841245"/>
                </a:lnTo>
                <a:lnTo>
                  <a:pt x="0" y="28412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662746" y="119570"/>
            <a:ext cx="2365925" cy="1273797"/>
          </a:xfrm>
          <a:custGeom>
            <a:avLst/>
            <a:gdLst/>
            <a:ahLst/>
            <a:cxnLst/>
            <a:rect l="l" t="t" r="r" b="b"/>
            <a:pathLst>
              <a:path w="2365925" h="1273797">
                <a:moveTo>
                  <a:pt x="0" y="0"/>
                </a:moveTo>
                <a:lnTo>
                  <a:pt x="2365925" y="0"/>
                </a:lnTo>
                <a:lnTo>
                  <a:pt x="2365925" y="1273797"/>
                </a:lnTo>
                <a:lnTo>
                  <a:pt x="0" y="12737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6818" t="-78926" r="-32997" b="-117912"/>
            </a:stretch>
          </a:blipFill>
        </p:spPr>
      </p:sp>
      <p:sp>
        <p:nvSpPr>
          <p:cNvPr id="7" name="Freeform 7"/>
          <p:cNvSpPr/>
          <p:nvPr/>
        </p:nvSpPr>
        <p:spPr>
          <a:xfrm rot="-5400000" flipH="1" flipV="1">
            <a:off x="13672854" y="-188405"/>
            <a:ext cx="4647320" cy="5024130"/>
          </a:xfrm>
          <a:custGeom>
            <a:avLst/>
            <a:gdLst/>
            <a:ahLst/>
            <a:cxnLst/>
            <a:rect l="l" t="t" r="r" b="b"/>
            <a:pathLst>
              <a:path w="4647320" h="5024130">
                <a:moveTo>
                  <a:pt x="4647320" y="5024130"/>
                </a:moveTo>
                <a:lnTo>
                  <a:pt x="0" y="5024130"/>
                </a:lnTo>
                <a:lnTo>
                  <a:pt x="0" y="0"/>
                </a:lnTo>
                <a:lnTo>
                  <a:pt x="4647320" y="0"/>
                </a:lnTo>
                <a:lnTo>
                  <a:pt x="4647320" y="502413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621558" y="30199"/>
            <a:ext cx="4106228" cy="4114800"/>
          </a:xfrm>
          <a:custGeom>
            <a:avLst/>
            <a:gdLst/>
            <a:ahLst/>
            <a:cxnLst/>
            <a:rect l="l" t="t" r="r" b="b"/>
            <a:pathLst>
              <a:path w="4106228" h="4114800">
                <a:moveTo>
                  <a:pt x="0" y="0"/>
                </a:moveTo>
                <a:lnTo>
                  <a:pt x="4106227" y="0"/>
                </a:lnTo>
                <a:lnTo>
                  <a:pt x="410622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0" y="-188405"/>
            <a:ext cx="4647320" cy="5024130"/>
          </a:xfrm>
          <a:custGeom>
            <a:avLst/>
            <a:gdLst/>
            <a:ahLst/>
            <a:cxnLst/>
            <a:rect l="l" t="t" r="r" b="b"/>
            <a:pathLst>
              <a:path w="4647320" h="5024130">
                <a:moveTo>
                  <a:pt x="0" y="0"/>
                </a:moveTo>
                <a:lnTo>
                  <a:pt x="4647320" y="0"/>
                </a:lnTo>
                <a:lnTo>
                  <a:pt x="4647320" y="5024130"/>
                </a:lnTo>
                <a:lnTo>
                  <a:pt x="0" y="50241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-236882" y="158429"/>
            <a:ext cx="18364246" cy="1740542"/>
            <a:chOff x="0" y="0"/>
            <a:chExt cx="24485662" cy="2320723"/>
          </a:xfrm>
        </p:grpSpPr>
        <p:sp>
          <p:nvSpPr>
            <p:cNvPr id="11" name="TextBox 11"/>
            <p:cNvSpPr txBox="1"/>
            <p:nvPr/>
          </p:nvSpPr>
          <p:spPr>
            <a:xfrm>
              <a:off x="5368468" y="286218"/>
              <a:ext cx="14278749" cy="15645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6"/>
                </a:lnSpc>
                <a:spcBef>
                  <a:spcPct val="0"/>
                </a:spcBef>
              </a:pPr>
              <a:r>
                <a:rPr lang="en-US" sz="2128" b="1" spc="253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Madhav Institute of Technology &amp; Science, Gwalior (M.P.), INDIA</a:t>
              </a:r>
            </a:p>
            <a:p>
              <a:pPr algn="ctr">
                <a:lnSpc>
                  <a:spcPts val="2146"/>
                </a:lnSpc>
                <a:spcBef>
                  <a:spcPct val="0"/>
                </a:spcBef>
              </a:pPr>
              <a:r>
                <a:rPr lang="en-US" sz="1480" b="1" spc="176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Deemed University</a:t>
              </a:r>
            </a:p>
            <a:p>
              <a:pPr algn="ctr">
                <a:lnSpc>
                  <a:spcPts val="2146"/>
                </a:lnSpc>
                <a:spcBef>
                  <a:spcPct val="0"/>
                </a:spcBef>
              </a:pPr>
              <a:r>
                <a:rPr lang="en-US" sz="1480" b="1" spc="176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(Declared under Distinct Category by Ministry of Education, Government of India)</a:t>
              </a:r>
            </a:p>
            <a:p>
              <a:pPr algn="ctr">
                <a:lnSpc>
                  <a:spcPts val="2146"/>
                </a:lnSpc>
                <a:spcBef>
                  <a:spcPct val="0"/>
                </a:spcBef>
              </a:pPr>
              <a:r>
                <a:rPr lang="en-US" sz="1480" b="1" spc="176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NAAC ACCREDITED WITH A++ GRADE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21019431" y="0"/>
              <a:ext cx="3466231" cy="1866194"/>
            </a:xfrm>
            <a:custGeom>
              <a:avLst/>
              <a:gdLst/>
              <a:ahLst/>
              <a:cxnLst/>
              <a:rect l="l" t="t" r="r" b="b"/>
              <a:pathLst>
                <a:path w="3466231" h="1866194">
                  <a:moveTo>
                    <a:pt x="0" y="0"/>
                  </a:moveTo>
                  <a:lnTo>
                    <a:pt x="3466231" y="0"/>
                  </a:lnTo>
                  <a:lnTo>
                    <a:pt x="3466231" y="1866194"/>
                  </a:lnTo>
                  <a:lnTo>
                    <a:pt x="0" y="18661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6818" t="-78926" r="-32997" b="-117912"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3483261" cy="2320723"/>
            </a:xfrm>
            <a:custGeom>
              <a:avLst/>
              <a:gdLst/>
              <a:ahLst/>
              <a:cxnLst/>
              <a:rect l="l" t="t" r="r" b="b"/>
              <a:pathLst>
                <a:path w="3483261" h="2320723">
                  <a:moveTo>
                    <a:pt x="0" y="0"/>
                  </a:moveTo>
                  <a:lnTo>
                    <a:pt x="3483261" y="0"/>
                  </a:lnTo>
                  <a:lnTo>
                    <a:pt x="3483261" y="2320723"/>
                  </a:lnTo>
                  <a:lnTo>
                    <a:pt x="0" y="2320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7D55087C-3A91-04F4-4F5B-1C090F98B15B}"/>
              </a:ext>
            </a:extLst>
          </p:cNvPr>
          <p:cNvSpPr txBox="1"/>
          <p:nvPr/>
        </p:nvSpPr>
        <p:spPr>
          <a:xfrm>
            <a:off x="4106228" y="2417579"/>
            <a:ext cx="10752772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9601"/>
              </a:lnSpc>
            </a:pPr>
            <a:r>
              <a:rPr lang="en-US" sz="9600" b="1" dirty="0">
                <a:solidFill>
                  <a:srgbClr val="01386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PROBLEM STATEMENT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20754"/>
            <a:ext cx="4647320" cy="5024130"/>
          </a:xfrm>
          <a:custGeom>
            <a:avLst/>
            <a:gdLst/>
            <a:ahLst/>
            <a:cxnLst/>
            <a:rect l="l" t="t" r="r" b="b"/>
            <a:pathLst>
              <a:path w="4647320" h="5024130">
                <a:moveTo>
                  <a:pt x="0" y="0"/>
                </a:moveTo>
                <a:lnTo>
                  <a:pt x="4647320" y="0"/>
                </a:lnTo>
                <a:lnTo>
                  <a:pt x="4647320" y="5024130"/>
                </a:lnTo>
                <a:lnTo>
                  <a:pt x="0" y="50241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764066" y="7043014"/>
            <a:ext cx="4135477" cy="4114800"/>
          </a:xfrm>
          <a:custGeom>
            <a:avLst/>
            <a:gdLst/>
            <a:ahLst/>
            <a:cxnLst/>
            <a:rect l="l" t="t" r="r" b="b"/>
            <a:pathLst>
              <a:path w="4135477" h="4114800">
                <a:moveTo>
                  <a:pt x="0" y="0"/>
                </a:moveTo>
                <a:lnTo>
                  <a:pt x="4135477" y="0"/>
                </a:lnTo>
                <a:lnTo>
                  <a:pt x="413547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363390" y="5054329"/>
            <a:ext cx="10449975" cy="33239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 b="1" dirty="0" err="1"/>
              <a:t>SkillSphere</a:t>
            </a:r>
            <a:r>
              <a:rPr lang="en-US" sz="2400" b="1" dirty="0"/>
              <a:t> AI</a:t>
            </a:r>
            <a:r>
              <a:rPr lang="en-US" sz="2400" dirty="0"/>
              <a:t> is an intelligent, gamified peer-to-peer platform where users exchange skills instead of money (e.g., "I teach you React, you teach me Python").</a:t>
            </a:r>
          </a:p>
          <a:p>
            <a:endParaRPr lang="en-US" sz="2400" dirty="0"/>
          </a:p>
          <a:p>
            <a:r>
              <a:rPr lang="en-US" sz="2400" dirty="0"/>
              <a:t>We integrate </a:t>
            </a:r>
            <a:r>
              <a:rPr lang="en-US" sz="2400" b="1" dirty="0"/>
              <a:t>Generative AI (Google Gemini)</a:t>
            </a:r>
            <a:r>
              <a:rPr lang="en-US" sz="2400" dirty="0"/>
              <a:t> to act as a virtual career coach and matchmaker, instantly analyzing user profiles to pair complementary skill sets together.</a:t>
            </a:r>
          </a:p>
          <a:p>
            <a:endParaRPr lang="en-US" sz="2400" dirty="0"/>
          </a:p>
          <a:p>
            <a:r>
              <a:rPr lang="en-US" sz="2400" dirty="0"/>
              <a:t>To solve the retention problem in EdTech, we built a </a:t>
            </a:r>
            <a:r>
              <a:rPr lang="en-US" sz="2400" b="1" dirty="0"/>
              <a:t>Gamification Engine</a:t>
            </a:r>
            <a:r>
              <a:rPr lang="en-US" sz="2400" dirty="0"/>
              <a:t> that rewards users with XP and Levels for successfully teaching and learning from others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150103" y="2268574"/>
            <a:ext cx="7366992" cy="2495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01"/>
              </a:lnSpc>
            </a:pPr>
            <a:r>
              <a:rPr lang="en-US" sz="9601" b="1" dirty="0">
                <a:solidFill>
                  <a:srgbClr val="01386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SOLUTION OVERVIEW</a:t>
            </a:r>
          </a:p>
        </p:txBody>
      </p:sp>
      <p:sp>
        <p:nvSpPr>
          <p:cNvPr id="6" name="Freeform 6"/>
          <p:cNvSpPr/>
          <p:nvPr/>
        </p:nvSpPr>
        <p:spPr>
          <a:xfrm>
            <a:off x="15494117" y="7043014"/>
            <a:ext cx="2793883" cy="3243986"/>
          </a:xfrm>
          <a:custGeom>
            <a:avLst/>
            <a:gdLst/>
            <a:ahLst/>
            <a:cxnLst/>
            <a:rect l="l" t="t" r="r" b="b"/>
            <a:pathLst>
              <a:path w="2793883" h="3243986">
                <a:moveTo>
                  <a:pt x="0" y="0"/>
                </a:moveTo>
                <a:lnTo>
                  <a:pt x="2793883" y="0"/>
                </a:lnTo>
                <a:lnTo>
                  <a:pt x="2793883" y="3243986"/>
                </a:lnTo>
                <a:lnTo>
                  <a:pt x="0" y="32439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662746" y="119570"/>
            <a:ext cx="2365925" cy="1273797"/>
          </a:xfrm>
          <a:custGeom>
            <a:avLst/>
            <a:gdLst/>
            <a:ahLst/>
            <a:cxnLst/>
            <a:rect l="l" t="t" r="r" b="b"/>
            <a:pathLst>
              <a:path w="2365925" h="1273797">
                <a:moveTo>
                  <a:pt x="0" y="0"/>
                </a:moveTo>
                <a:lnTo>
                  <a:pt x="2365925" y="0"/>
                </a:lnTo>
                <a:lnTo>
                  <a:pt x="2365925" y="1273797"/>
                </a:lnTo>
                <a:lnTo>
                  <a:pt x="0" y="12737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6818" t="-78926" r="-32997" b="-117912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662746" y="119570"/>
            <a:ext cx="2365925" cy="1273797"/>
          </a:xfrm>
          <a:custGeom>
            <a:avLst/>
            <a:gdLst/>
            <a:ahLst/>
            <a:cxnLst/>
            <a:rect l="l" t="t" r="r" b="b"/>
            <a:pathLst>
              <a:path w="2365925" h="1273797">
                <a:moveTo>
                  <a:pt x="0" y="0"/>
                </a:moveTo>
                <a:lnTo>
                  <a:pt x="2365925" y="0"/>
                </a:lnTo>
                <a:lnTo>
                  <a:pt x="2365925" y="1273797"/>
                </a:lnTo>
                <a:lnTo>
                  <a:pt x="0" y="12737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6818" t="-78926" r="-32997" b="-117912"/>
            </a:stretch>
          </a:blipFill>
        </p:spPr>
      </p:sp>
      <p:sp>
        <p:nvSpPr>
          <p:cNvPr id="9" name="Freeform 9"/>
          <p:cNvSpPr/>
          <p:nvPr/>
        </p:nvSpPr>
        <p:spPr>
          <a:xfrm rot="-5400000" flipH="1" flipV="1">
            <a:off x="13672854" y="-188405"/>
            <a:ext cx="4647320" cy="5024130"/>
          </a:xfrm>
          <a:custGeom>
            <a:avLst/>
            <a:gdLst/>
            <a:ahLst/>
            <a:cxnLst/>
            <a:rect l="l" t="t" r="r" b="b"/>
            <a:pathLst>
              <a:path w="4647320" h="5024130">
                <a:moveTo>
                  <a:pt x="4647320" y="5024130"/>
                </a:moveTo>
                <a:lnTo>
                  <a:pt x="0" y="5024130"/>
                </a:lnTo>
                <a:lnTo>
                  <a:pt x="0" y="0"/>
                </a:lnTo>
                <a:lnTo>
                  <a:pt x="4647320" y="0"/>
                </a:lnTo>
                <a:lnTo>
                  <a:pt x="4647320" y="502413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509365" y="30199"/>
            <a:ext cx="4106228" cy="4114800"/>
          </a:xfrm>
          <a:custGeom>
            <a:avLst/>
            <a:gdLst/>
            <a:ahLst/>
            <a:cxnLst/>
            <a:rect l="l" t="t" r="r" b="b"/>
            <a:pathLst>
              <a:path w="4106228" h="4114800">
                <a:moveTo>
                  <a:pt x="0" y="0"/>
                </a:moveTo>
                <a:lnTo>
                  <a:pt x="4106228" y="0"/>
                </a:lnTo>
                <a:lnTo>
                  <a:pt x="41062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-236882" y="158429"/>
            <a:ext cx="18364246" cy="1740542"/>
            <a:chOff x="0" y="0"/>
            <a:chExt cx="24485662" cy="2320723"/>
          </a:xfrm>
        </p:grpSpPr>
        <p:sp>
          <p:nvSpPr>
            <p:cNvPr id="12" name="TextBox 12"/>
            <p:cNvSpPr txBox="1"/>
            <p:nvPr/>
          </p:nvSpPr>
          <p:spPr>
            <a:xfrm>
              <a:off x="5368468" y="286218"/>
              <a:ext cx="14278749" cy="15645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6"/>
                </a:lnSpc>
                <a:spcBef>
                  <a:spcPct val="0"/>
                </a:spcBef>
              </a:pPr>
              <a:r>
                <a:rPr lang="en-US" sz="2128" b="1" spc="253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Madhav Institute of Technology &amp; Science, Gwalior (M.P.), INDIA</a:t>
              </a:r>
            </a:p>
            <a:p>
              <a:pPr algn="ctr">
                <a:lnSpc>
                  <a:spcPts val="2146"/>
                </a:lnSpc>
                <a:spcBef>
                  <a:spcPct val="0"/>
                </a:spcBef>
              </a:pPr>
              <a:r>
                <a:rPr lang="en-US" sz="1480" b="1" spc="176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Deemed University</a:t>
              </a:r>
            </a:p>
            <a:p>
              <a:pPr algn="ctr">
                <a:lnSpc>
                  <a:spcPts val="2146"/>
                </a:lnSpc>
                <a:spcBef>
                  <a:spcPct val="0"/>
                </a:spcBef>
              </a:pPr>
              <a:r>
                <a:rPr lang="en-US" sz="1480" b="1" spc="176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(Declared under Distinct Category by Ministry of Education, Government of India)</a:t>
              </a:r>
            </a:p>
            <a:p>
              <a:pPr algn="ctr">
                <a:lnSpc>
                  <a:spcPts val="2146"/>
                </a:lnSpc>
                <a:spcBef>
                  <a:spcPct val="0"/>
                </a:spcBef>
              </a:pPr>
              <a:r>
                <a:rPr lang="en-US" sz="1480" b="1" spc="176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NAAC ACCREDITED WITH A++ GRADE</a:t>
              </a:r>
            </a:p>
          </p:txBody>
        </p:sp>
        <p:sp>
          <p:nvSpPr>
            <p:cNvPr id="13" name="Freeform 13"/>
            <p:cNvSpPr/>
            <p:nvPr/>
          </p:nvSpPr>
          <p:spPr>
            <a:xfrm>
              <a:off x="21019431" y="0"/>
              <a:ext cx="3466231" cy="1866194"/>
            </a:xfrm>
            <a:custGeom>
              <a:avLst/>
              <a:gdLst/>
              <a:ahLst/>
              <a:cxnLst/>
              <a:rect l="l" t="t" r="r" b="b"/>
              <a:pathLst>
                <a:path w="3466231" h="1866194">
                  <a:moveTo>
                    <a:pt x="0" y="0"/>
                  </a:moveTo>
                  <a:lnTo>
                    <a:pt x="3466231" y="0"/>
                  </a:lnTo>
                  <a:lnTo>
                    <a:pt x="3466231" y="1866194"/>
                  </a:lnTo>
                  <a:lnTo>
                    <a:pt x="0" y="18661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6818" t="-78926" r="-32997" b="-117912"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0" y="0"/>
              <a:ext cx="3483261" cy="2320723"/>
            </a:xfrm>
            <a:custGeom>
              <a:avLst/>
              <a:gdLst/>
              <a:ahLst/>
              <a:cxnLst/>
              <a:rect l="l" t="t" r="r" b="b"/>
              <a:pathLst>
                <a:path w="3483261" h="2320723">
                  <a:moveTo>
                    <a:pt x="0" y="0"/>
                  </a:moveTo>
                  <a:lnTo>
                    <a:pt x="3483261" y="0"/>
                  </a:lnTo>
                  <a:lnTo>
                    <a:pt x="3483261" y="2320723"/>
                  </a:lnTo>
                  <a:lnTo>
                    <a:pt x="0" y="2320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4292805" y="-2024657"/>
            <a:ext cx="4347674" cy="4347674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1975356" y="2409662"/>
            <a:ext cx="7720399" cy="31973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02"/>
              </a:lnSpc>
            </a:pPr>
            <a:r>
              <a:rPr lang="en-US" sz="8386" b="1">
                <a:solidFill>
                  <a:srgbClr val="01386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KEY FEATURES &amp; BENEFITS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4819721" y="8743950"/>
            <a:ext cx="3468279" cy="3086100"/>
            <a:chOff x="0" y="0"/>
            <a:chExt cx="913456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13456" cy="812800"/>
            </a:xfrm>
            <a:custGeom>
              <a:avLst/>
              <a:gdLst/>
              <a:ahLst/>
              <a:cxnLst/>
              <a:rect l="l" t="t" r="r" b="b"/>
              <a:pathLst>
                <a:path w="913456" h="812800">
                  <a:moveTo>
                    <a:pt x="0" y="0"/>
                  </a:moveTo>
                  <a:lnTo>
                    <a:pt x="913456" y="0"/>
                  </a:lnTo>
                  <a:lnTo>
                    <a:pt x="913456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9D845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38100"/>
              <a:ext cx="913456" cy="774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449479" y="9138792"/>
            <a:ext cx="3468279" cy="3086100"/>
            <a:chOff x="0" y="0"/>
            <a:chExt cx="913456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13456" cy="812800"/>
            </a:xfrm>
            <a:custGeom>
              <a:avLst/>
              <a:gdLst/>
              <a:ahLst/>
              <a:cxnLst/>
              <a:rect l="l" t="t" r="r" b="b"/>
              <a:pathLst>
                <a:path w="913456" h="812800">
                  <a:moveTo>
                    <a:pt x="0" y="0"/>
                  </a:moveTo>
                  <a:lnTo>
                    <a:pt x="913456" y="0"/>
                  </a:lnTo>
                  <a:lnTo>
                    <a:pt x="913456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9D845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38100"/>
              <a:ext cx="913456" cy="774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5662746" y="119570"/>
            <a:ext cx="2365925" cy="1273797"/>
          </a:xfrm>
          <a:custGeom>
            <a:avLst/>
            <a:gdLst/>
            <a:ahLst/>
            <a:cxnLst/>
            <a:rect l="l" t="t" r="r" b="b"/>
            <a:pathLst>
              <a:path w="2365925" h="1273797">
                <a:moveTo>
                  <a:pt x="0" y="0"/>
                </a:moveTo>
                <a:lnTo>
                  <a:pt x="2365925" y="0"/>
                </a:lnTo>
                <a:lnTo>
                  <a:pt x="2365925" y="1273797"/>
                </a:lnTo>
                <a:lnTo>
                  <a:pt x="0" y="12737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6818" t="-78926" r="-32997" b="-117912"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662746" y="119570"/>
            <a:ext cx="2365925" cy="1273797"/>
          </a:xfrm>
          <a:custGeom>
            <a:avLst/>
            <a:gdLst/>
            <a:ahLst/>
            <a:cxnLst/>
            <a:rect l="l" t="t" r="r" b="b"/>
            <a:pathLst>
              <a:path w="2365925" h="1273797">
                <a:moveTo>
                  <a:pt x="0" y="0"/>
                </a:moveTo>
                <a:lnTo>
                  <a:pt x="2365925" y="0"/>
                </a:lnTo>
                <a:lnTo>
                  <a:pt x="2365925" y="1273797"/>
                </a:lnTo>
                <a:lnTo>
                  <a:pt x="0" y="12737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6818" t="-78926" r="-32997" b="-117912"/>
            </a:stretch>
          </a:blipFill>
        </p:spPr>
      </p:sp>
      <p:sp>
        <p:nvSpPr>
          <p:cNvPr id="12" name="Freeform 12"/>
          <p:cNvSpPr/>
          <p:nvPr/>
        </p:nvSpPr>
        <p:spPr>
          <a:xfrm rot="-5400000" flipH="1" flipV="1">
            <a:off x="13672854" y="-188405"/>
            <a:ext cx="4647320" cy="5024130"/>
          </a:xfrm>
          <a:custGeom>
            <a:avLst/>
            <a:gdLst/>
            <a:ahLst/>
            <a:cxnLst/>
            <a:rect l="l" t="t" r="r" b="b"/>
            <a:pathLst>
              <a:path w="4647320" h="5024130">
                <a:moveTo>
                  <a:pt x="4647320" y="5024130"/>
                </a:moveTo>
                <a:lnTo>
                  <a:pt x="0" y="5024130"/>
                </a:lnTo>
                <a:lnTo>
                  <a:pt x="0" y="0"/>
                </a:lnTo>
                <a:lnTo>
                  <a:pt x="4647320" y="0"/>
                </a:lnTo>
                <a:lnTo>
                  <a:pt x="4647320" y="502413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-507214" y="20722"/>
            <a:ext cx="4106228" cy="4114800"/>
          </a:xfrm>
          <a:custGeom>
            <a:avLst/>
            <a:gdLst/>
            <a:ahLst/>
            <a:cxnLst/>
            <a:rect l="l" t="t" r="r" b="b"/>
            <a:pathLst>
              <a:path w="4106228" h="4114800">
                <a:moveTo>
                  <a:pt x="0" y="0"/>
                </a:moveTo>
                <a:lnTo>
                  <a:pt x="4106228" y="0"/>
                </a:lnTo>
                <a:lnTo>
                  <a:pt x="41062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-277523" y="0"/>
            <a:ext cx="4298771" cy="4647320"/>
          </a:xfrm>
          <a:custGeom>
            <a:avLst/>
            <a:gdLst/>
            <a:ahLst/>
            <a:cxnLst/>
            <a:rect l="l" t="t" r="r" b="b"/>
            <a:pathLst>
              <a:path w="4298771" h="4647320">
                <a:moveTo>
                  <a:pt x="0" y="0"/>
                </a:moveTo>
                <a:lnTo>
                  <a:pt x="4298771" y="0"/>
                </a:lnTo>
                <a:lnTo>
                  <a:pt x="4298771" y="4647320"/>
                </a:lnTo>
                <a:lnTo>
                  <a:pt x="0" y="46473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-236882" y="158429"/>
            <a:ext cx="18364246" cy="1740542"/>
            <a:chOff x="0" y="0"/>
            <a:chExt cx="24485662" cy="2320723"/>
          </a:xfrm>
        </p:grpSpPr>
        <p:sp>
          <p:nvSpPr>
            <p:cNvPr id="16" name="TextBox 16"/>
            <p:cNvSpPr txBox="1"/>
            <p:nvPr/>
          </p:nvSpPr>
          <p:spPr>
            <a:xfrm>
              <a:off x="5368468" y="286218"/>
              <a:ext cx="14278749" cy="15645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6"/>
                </a:lnSpc>
                <a:spcBef>
                  <a:spcPct val="0"/>
                </a:spcBef>
              </a:pPr>
              <a:r>
                <a:rPr lang="en-US" sz="2128" b="1" spc="253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Madhav Institute of Technology &amp; Science, Gwalior (M.P.), INDIA</a:t>
              </a:r>
            </a:p>
            <a:p>
              <a:pPr algn="ctr">
                <a:lnSpc>
                  <a:spcPts val="2146"/>
                </a:lnSpc>
                <a:spcBef>
                  <a:spcPct val="0"/>
                </a:spcBef>
              </a:pPr>
              <a:r>
                <a:rPr lang="en-US" sz="1480" b="1" spc="176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Deemed University</a:t>
              </a:r>
            </a:p>
            <a:p>
              <a:pPr algn="ctr">
                <a:lnSpc>
                  <a:spcPts val="2146"/>
                </a:lnSpc>
                <a:spcBef>
                  <a:spcPct val="0"/>
                </a:spcBef>
              </a:pPr>
              <a:r>
                <a:rPr lang="en-US" sz="1480" b="1" spc="176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(Declared under Distinct Category by Ministry of Education, Government of India)</a:t>
              </a:r>
            </a:p>
            <a:p>
              <a:pPr algn="ctr">
                <a:lnSpc>
                  <a:spcPts val="2146"/>
                </a:lnSpc>
                <a:spcBef>
                  <a:spcPct val="0"/>
                </a:spcBef>
              </a:pPr>
              <a:r>
                <a:rPr lang="en-US" sz="1480" b="1" spc="176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NAAC ACCREDITED WITH A++ GRADE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21019431" y="0"/>
              <a:ext cx="3466231" cy="1866194"/>
            </a:xfrm>
            <a:custGeom>
              <a:avLst/>
              <a:gdLst/>
              <a:ahLst/>
              <a:cxnLst/>
              <a:rect l="l" t="t" r="r" b="b"/>
              <a:pathLst>
                <a:path w="3466231" h="1866194">
                  <a:moveTo>
                    <a:pt x="0" y="0"/>
                  </a:moveTo>
                  <a:lnTo>
                    <a:pt x="3466231" y="0"/>
                  </a:lnTo>
                  <a:lnTo>
                    <a:pt x="3466231" y="1866194"/>
                  </a:lnTo>
                  <a:lnTo>
                    <a:pt x="0" y="18661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6818" t="-78926" r="-32997" b="-117912"/>
              </a:stretch>
            </a:blipFill>
          </p:spPr>
        </p:sp>
        <p:sp>
          <p:nvSpPr>
            <p:cNvPr id="18" name="Freeform 18"/>
            <p:cNvSpPr/>
            <p:nvPr/>
          </p:nvSpPr>
          <p:spPr>
            <a:xfrm>
              <a:off x="0" y="0"/>
              <a:ext cx="3483261" cy="2320723"/>
            </a:xfrm>
            <a:custGeom>
              <a:avLst/>
              <a:gdLst/>
              <a:ahLst/>
              <a:cxnLst/>
              <a:rect l="l" t="t" r="r" b="b"/>
              <a:pathLst>
                <a:path w="3483261" h="2320723">
                  <a:moveTo>
                    <a:pt x="0" y="0"/>
                  </a:moveTo>
                  <a:lnTo>
                    <a:pt x="3483261" y="0"/>
                  </a:lnTo>
                  <a:lnTo>
                    <a:pt x="3483261" y="2320723"/>
                  </a:lnTo>
                  <a:lnTo>
                    <a:pt x="0" y="2320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sp>
        <p:nvSpPr>
          <p:cNvPr id="19" name="TextBox 19"/>
          <p:cNvSpPr txBox="1"/>
          <p:nvPr/>
        </p:nvSpPr>
        <p:spPr>
          <a:xfrm>
            <a:off x="1871862" y="5638592"/>
            <a:ext cx="8464043" cy="4924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1"/>
            <a:r>
              <a:rPr lang="en-US" sz="2000" b="1" dirty="0"/>
              <a:t>AI Profile Optimizer &amp; Matchmaking (Gemini):</a:t>
            </a:r>
            <a:r>
              <a:rPr lang="en-US" sz="2000" dirty="0"/>
              <a:t> Automatically rewrites user bios to be highly professional and matches users based on mutual skill needs.</a:t>
            </a:r>
          </a:p>
          <a:p>
            <a:pPr lvl="1"/>
            <a:endParaRPr lang="en-US" sz="2000" dirty="0"/>
          </a:p>
          <a:p>
            <a:pPr lvl="1"/>
            <a:r>
              <a:rPr lang="en-US" sz="2000" b="1" dirty="0"/>
              <a:t>Smart Trending Skills:</a:t>
            </a:r>
            <a:r>
              <a:rPr lang="en-US" sz="2000" dirty="0"/>
              <a:t> Dynamically fetches real-time market demands to guide users on what technologies they should learn next.</a:t>
            </a:r>
          </a:p>
          <a:p>
            <a:pPr lvl="1"/>
            <a:endParaRPr lang="en-US" sz="2000" dirty="0"/>
          </a:p>
          <a:p>
            <a:pPr lvl="1"/>
            <a:r>
              <a:rPr lang="en-US" sz="2000" b="1" dirty="0"/>
              <a:t>AI Rating Summarizer:</a:t>
            </a:r>
            <a:r>
              <a:rPr lang="en-US" sz="2000" dirty="0"/>
              <a:t> Intelligently condenses complex mentorship feedback into punchy, positive reviews.</a:t>
            </a:r>
          </a:p>
          <a:p>
            <a:pPr lvl="1"/>
            <a:endParaRPr lang="en-US" sz="2000" dirty="0"/>
          </a:p>
          <a:p>
            <a:pPr lvl="1"/>
            <a:r>
              <a:rPr lang="en-US" sz="2000" b="1" dirty="0"/>
              <a:t>Gamified XP Engine:</a:t>
            </a:r>
            <a:r>
              <a:rPr lang="en-US" sz="2000" dirty="0"/>
              <a:t> Users earn XP for sending, accepting, and completing skill swaps, driving high retention and platform engagement.</a:t>
            </a:r>
          </a:p>
          <a:p>
            <a:pPr lvl="1"/>
            <a:endParaRPr lang="en-US" sz="2000" dirty="0"/>
          </a:p>
          <a:p>
            <a:pPr lvl="1"/>
            <a:r>
              <a:rPr lang="en-US" sz="2000" b="1" dirty="0"/>
              <a:t>Real-time </a:t>
            </a:r>
            <a:r>
              <a:rPr lang="en-US" sz="2000" b="1" dirty="0" err="1"/>
              <a:t>WebSockets</a:t>
            </a:r>
            <a:r>
              <a:rPr lang="en-US" sz="2000" b="1" dirty="0"/>
              <a:t> Chat:</a:t>
            </a:r>
            <a:r>
              <a:rPr lang="en-US" sz="2000" dirty="0"/>
              <a:t> Built-in instant messaging with typing indicators for seamless communication between matched peers.</a:t>
            </a:r>
          </a:p>
          <a:p>
            <a:br>
              <a:rPr lang="en-US" sz="2000" dirty="0"/>
            </a:br>
            <a:endParaRPr lang="en-US" sz="2000" dirty="0">
              <a:solidFill>
                <a:srgbClr val="54545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9BDB470-FE25-76A6-9B35-E1F40493B28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559" t="11505" r="4571" b="2378"/>
          <a:stretch>
            <a:fillRect/>
          </a:stretch>
        </p:blipFill>
        <p:spPr>
          <a:xfrm>
            <a:off x="10591799" y="2195956"/>
            <a:ext cx="6257736" cy="53097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2098791"/>
            <a:ext cx="18288000" cy="1816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</a:pPr>
            <a:r>
              <a:rPr lang="en-US" sz="6999" b="1" dirty="0">
                <a:solidFill>
                  <a:srgbClr val="01386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ARCHITECTURE WORKFLOW DIAGRAM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570746" y="4295342"/>
            <a:ext cx="8325854" cy="4001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1"/>
            <a:r>
              <a:rPr lang="en-US" sz="2000" b="1" dirty="0"/>
              <a:t>Frontend (Client):</a:t>
            </a:r>
            <a:r>
              <a:rPr lang="en-US" sz="2000" dirty="0"/>
              <a:t> React (Vite) + Tailwind CSS (Handles UI and User Inputs).</a:t>
            </a:r>
          </a:p>
          <a:p>
            <a:pPr lvl="1"/>
            <a:endParaRPr lang="en-US" sz="2000" dirty="0"/>
          </a:p>
          <a:p>
            <a:pPr lvl="1"/>
            <a:r>
              <a:rPr lang="en-US" sz="2000" b="1" dirty="0"/>
              <a:t>API Gateway / Backend:</a:t>
            </a:r>
            <a:r>
              <a:rPr lang="en-US" sz="2000" dirty="0"/>
              <a:t> Node.js + Express.js (Handles routing and business logic).</a:t>
            </a:r>
          </a:p>
          <a:p>
            <a:pPr lvl="1"/>
            <a:endParaRPr lang="en-US" sz="2000" dirty="0"/>
          </a:p>
          <a:p>
            <a:pPr lvl="1"/>
            <a:r>
              <a:rPr lang="en-US" sz="2000" b="1" dirty="0"/>
              <a:t>Database:</a:t>
            </a:r>
            <a:r>
              <a:rPr lang="en-US" sz="2000" dirty="0"/>
              <a:t> MongoDB (Stores User Profiles, Swap Histories, and Chat Logs).</a:t>
            </a:r>
          </a:p>
          <a:p>
            <a:pPr lvl="1"/>
            <a:r>
              <a:rPr lang="en-US" sz="2000" b="1" dirty="0"/>
              <a:t>AI Integration:</a:t>
            </a:r>
            <a:r>
              <a:rPr lang="en-US" sz="2000" dirty="0"/>
              <a:t> Google Gemini API (Receives raw bio/feedback -&gt; Returns optimized text and match scores).</a:t>
            </a:r>
          </a:p>
          <a:p>
            <a:pPr lvl="1"/>
            <a:endParaRPr lang="en-US" sz="2000" dirty="0"/>
          </a:p>
          <a:p>
            <a:pPr lvl="1"/>
            <a:r>
              <a:rPr lang="en-US" sz="2000" b="1" dirty="0"/>
              <a:t>Real-time Engine:</a:t>
            </a:r>
            <a:r>
              <a:rPr lang="en-US" sz="2000" dirty="0"/>
              <a:t> Socket.io (Handles live messaging between User A and User B).</a:t>
            </a:r>
          </a:p>
          <a:p>
            <a:br>
              <a:rPr lang="en-US" sz="2000" dirty="0"/>
            </a:br>
            <a:endParaRPr lang="en-US" sz="2000" dirty="0">
              <a:solidFill>
                <a:srgbClr val="54545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" name="Freeform 4"/>
          <p:cNvSpPr/>
          <p:nvPr/>
        </p:nvSpPr>
        <p:spPr>
          <a:xfrm rot="-10800000">
            <a:off x="15469580" y="7462696"/>
            <a:ext cx="2818420" cy="2824304"/>
          </a:xfrm>
          <a:custGeom>
            <a:avLst/>
            <a:gdLst/>
            <a:ahLst/>
            <a:cxnLst/>
            <a:rect l="l" t="t" r="r" b="b"/>
            <a:pathLst>
              <a:path w="2818420" h="2824304">
                <a:moveTo>
                  <a:pt x="0" y="0"/>
                </a:moveTo>
                <a:lnTo>
                  <a:pt x="2818420" y="0"/>
                </a:lnTo>
                <a:lnTo>
                  <a:pt x="2818420" y="2824304"/>
                </a:lnTo>
                <a:lnTo>
                  <a:pt x="0" y="28243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164172" y="-300789"/>
            <a:ext cx="5495237" cy="5940797"/>
          </a:xfrm>
          <a:custGeom>
            <a:avLst/>
            <a:gdLst/>
            <a:ahLst/>
            <a:cxnLst/>
            <a:rect l="l" t="t" r="r" b="b"/>
            <a:pathLst>
              <a:path w="5495237" h="5940797">
                <a:moveTo>
                  <a:pt x="0" y="0"/>
                </a:moveTo>
                <a:lnTo>
                  <a:pt x="5495237" y="0"/>
                </a:lnTo>
                <a:lnTo>
                  <a:pt x="5495237" y="5940797"/>
                </a:lnTo>
                <a:lnTo>
                  <a:pt x="0" y="59407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164172" y="9578225"/>
            <a:ext cx="9011810" cy="544464"/>
          </a:xfrm>
          <a:custGeom>
            <a:avLst/>
            <a:gdLst/>
            <a:ahLst/>
            <a:cxnLst/>
            <a:rect l="l" t="t" r="r" b="b"/>
            <a:pathLst>
              <a:path w="9011810" h="544464">
                <a:moveTo>
                  <a:pt x="0" y="0"/>
                </a:moveTo>
                <a:lnTo>
                  <a:pt x="9011810" y="0"/>
                </a:lnTo>
                <a:lnTo>
                  <a:pt x="9011810" y="544464"/>
                </a:lnTo>
                <a:lnTo>
                  <a:pt x="0" y="5444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5400000" flipH="1" flipV="1">
            <a:off x="13452275" y="-209159"/>
            <a:ext cx="4647320" cy="5024130"/>
          </a:xfrm>
          <a:custGeom>
            <a:avLst/>
            <a:gdLst/>
            <a:ahLst/>
            <a:cxnLst/>
            <a:rect l="l" t="t" r="r" b="b"/>
            <a:pathLst>
              <a:path w="4647320" h="5024130">
                <a:moveTo>
                  <a:pt x="4647320" y="5024130"/>
                </a:moveTo>
                <a:lnTo>
                  <a:pt x="0" y="5024130"/>
                </a:lnTo>
                <a:lnTo>
                  <a:pt x="0" y="0"/>
                </a:lnTo>
                <a:lnTo>
                  <a:pt x="4647320" y="0"/>
                </a:lnTo>
                <a:lnTo>
                  <a:pt x="4647320" y="502413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621558" y="30199"/>
            <a:ext cx="4106228" cy="4114800"/>
          </a:xfrm>
          <a:custGeom>
            <a:avLst/>
            <a:gdLst/>
            <a:ahLst/>
            <a:cxnLst/>
            <a:rect l="l" t="t" r="r" b="b"/>
            <a:pathLst>
              <a:path w="4106228" h="4114800">
                <a:moveTo>
                  <a:pt x="0" y="0"/>
                </a:moveTo>
                <a:lnTo>
                  <a:pt x="4106227" y="0"/>
                </a:lnTo>
                <a:lnTo>
                  <a:pt x="410622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-236882" y="158429"/>
            <a:ext cx="18364246" cy="1740542"/>
            <a:chOff x="0" y="0"/>
            <a:chExt cx="24485662" cy="2320723"/>
          </a:xfrm>
        </p:grpSpPr>
        <p:sp>
          <p:nvSpPr>
            <p:cNvPr id="10" name="TextBox 10"/>
            <p:cNvSpPr txBox="1"/>
            <p:nvPr/>
          </p:nvSpPr>
          <p:spPr>
            <a:xfrm>
              <a:off x="5368468" y="286218"/>
              <a:ext cx="14278749" cy="15645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6"/>
                </a:lnSpc>
                <a:spcBef>
                  <a:spcPct val="0"/>
                </a:spcBef>
              </a:pPr>
              <a:r>
                <a:rPr lang="en-US" sz="2128" b="1" spc="253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Madhav Institute of Technology &amp; Science, Gwalior (M.P.), INDIA</a:t>
              </a:r>
            </a:p>
            <a:p>
              <a:pPr algn="ctr">
                <a:lnSpc>
                  <a:spcPts val="2146"/>
                </a:lnSpc>
                <a:spcBef>
                  <a:spcPct val="0"/>
                </a:spcBef>
              </a:pPr>
              <a:r>
                <a:rPr lang="en-US" sz="1480" b="1" spc="176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Deemed University</a:t>
              </a:r>
            </a:p>
            <a:p>
              <a:pPr algn="ctr">
                <a:lnSpc>
                  <a:spcPts val="2146"/>
                </a:lnSpc>
                <a:spcBef>
                  <a:spcPct val="0"/>
                </a:spcBef>
              </a:pPr>
              <a:r>
                <a:rPr lang="en-US" sz="1480" b="1" spc="176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(Declared under Distinct Category by Ministry of Education, Government of India)</a:t>
              </a:r>
            </a:p>
            <a:p>
              <a:pPr algn="ctr">
                <a:lnSpc>
                  <a:spcPts val="2146"/>
                </a:lnSpc>
                <a:spcBef>
                  <a:spcPct val="0"/>
                </a:spcBef>
              </a:pPr>
              <a:r>
                <a:rPr lang="en-US" sz="1480" b="1" spc="176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NAAC ACCREDITED WITH A++ GRADE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21019431" y="0"/>
              <a:ext cx="3466231" cy="1866194"/>
            </a:xfrm>
            <a:custGeom>
              <a:avLst/>
              <a:gdLst/>
              <a:ahLst/>
              <a:cxnLst/>
              <a:rect l="l" t="t" r="r" b="b"/>
              <a:pathLst>
                <a:path w="3466231" h="1866194">
                  <a:moveTo>
                    <a:pt x="0" y="0"/>
                  </a:moveTo>
                  <a:lnTo>
                    <a:pt x="3466231" y="0"/>
                  </a:lnTo>
                  <a:lnTo>
                    <a:pt x="3466231" y="1866194"/>
                  </a:lnTo>
                  <a:lnTo>
                    <a:pt x="0" y="18661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6818" t="-78926" r="-32997" b="-117912"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>
              <a:off x="0" y="0"/>
              <a:ext cx="3483261" cy="2320723"/>
            </a:xfrm>
            <a:custGeom>
              <a:avLst/>
              <a:gdLst/>
              <a:ahLst/>
              <a:cxnLst/>
              <a:rect l="l" t="t" r="r" b="b"/>
              <a:pathLst>
                <a:path w="3483261" h="2320723">
                  <a:moveTo>
                    <a:pt x="0" y="0"/>
                  </a:moveTo>
                  <a:lnTo>
                    <a:pt x="3483261" y="0"/>
                  </a:lnTo>
                  <a:lnTo>
                    <a:pt x="3483261" y="2320723"/>
                  </a:lnTo>
                  <a:lnTo>
                    <a:pt x="0" y="2320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3B874086-060E-1BC7-90DA-376BCB505AF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96600" y="3914891"/>
            <a:ext cx="6746835" cy="449789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70551" y="2686860"/>
            <a:ext cx="8927847" cy="7303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44"/>
              </a:lnSpc>
            </a:pPr>
            <a:r>
              <a:rPr lang="en-US" sz="5600" b="1">
                <a:solidFill>
                  <a:srgbClr val="01386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CONCLUSION &amp; IMPACT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781448" y="4345996"/>
            <a:ext cx="11144179" cy="50475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1"/>
            <a:r>
              <a:rPr lang="en-US" sz="2800" b="1" dirty="0"/>
              <a:t>Conclusion:</a:t>
            </a:r>
            <a:r>
              <a:rPr lang="en-US" sz="2800" dirty="0"/>
              <a:t> </a:t>
            </a:r>
            <a:r>
              <a:rPr lang="en-US" sz="2800" dirty="0" err="1"/>
              <a:t>SkillSphere</a:t>
            </a:r>
            <a:r>
              <a:rPr lang="en-US" sz="2800" dirty="0"/>
              <a:t> AI successfully creates a self-sustaining peer-to-peer educational ecosystem by replacing monetary transactions with a "knowledge-exchange" currency. The integration of Generative AI significantly reduces friction in matching and mentoring.</a:t>
            </a:r>
          </a:p>
          <a:p>
            <a:pPr lvl="1"/>
            <a:endParaRPr lang="en-US" sz="2800" dirty="0"/>
          </a:p>
          <a:p>
            <a:pPr lvl="1"/>
            <a:r>
              <a:rPr lang="en-US" sz="2800" b="1" dirty="0"/>
              <a:t>Social Impact (Democratizing Education):</a:t>
            </a:r>
            <a:r>
              <a:rPr lang="en-US" sz="2800" dirty="0"/>
              <a:t> We are breaking down financial barriers to high-quality, 1-on-1 mentorship. By allowing anyone to learn premium tech skills for free (in exchange for teaching what they know), we empower underprivileged students and foster a global, collaborative community of continuous learning.</a:t>
            </a:r>
          </a:p>
          <a:p>
            <a:br>
              <a:rPr lang="en-US" sz="2400" dirty="0"/>
            </a:br>
            <a:endParaRPr lang="en-US" sz="2400" dirty="0">
              <a:solidFill>
                <a:srgbClr val="54545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15662746" y="119570"/>
            <a:ext cx="2365925" cy="1273797"/>
          </a:xfrm>
          <a:custGeom>
            <a:avLst/>
            <a:gdLst/>
            <a:ahLst/>
            <a:cxnLst/>
            <a:rect l="l" t="t" r="r" b="b"/>
            <a:pathLst>
              <a:path w="2365925" h="1273797">
                <a:moveTo>
                  <a:pt x="0" y="0"/>
                </a:moveTo>
                <a:lnTo>
                  <a:pt x="2365925" y="0"/>
                </a:lnTo>
                <a:lnTo>
                  <a:pt x="2365925" y="1273797"/>
                </a:lnTo>
                <a:lnTo>
                  <a:pt x="0" y="12737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6818" t="-78926" r="-32997" b="-117912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662746" y="119570"/>
            <a:ext cx="2365925" cy="1273797"/>
          </a:xfrm>
          <a:custGeom>
            <a:avLst/>
            <a:gdLst/>
            <a:ahLst/>
            <a:cxnLst/>
            <a:rect l="l" t="t" r="r" b="b"/>
            <a:pathLst>
              <a:path w="2365925" h="1273797">
                <a:moveTo>
                  <a:pt x="0" y="0"/>
                </a:moveTo>
                <a:lnTo>
                  <a:pt x="2365925" y="0"/>
                </a:lnTo>
                <a:lnTo>
                  <a:pt x="2365925" y="1273797"/>
                </a:lnTo>
                <a:lnTo>
                  <a:pt x="0" y="12737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6818" t="-78926" r="-32997" b="-117912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662746" y="119570"/>
            <a:ext cx="2365925" cy="1273797"/>
          </a:xfrm>
          <a:custGeom>
            <a:avLst/>
            <a:gdLst/>
            <a:ahLst/>
            <a:cxnLst/>
            <a:rect l="l" t="t" r="r" b="b"/>
            <a:pathLst>
              <a:path w="2365925" h="1273797">
                <a:moveTo>
                  <a:pt x="0" y="0"/>
                </a:moveTo>
                <a:lnTo>
                  <a:pt x="2365925" y="0"/>
                </a:lnTo>
                <a:lnTo>
                  <a:pt x="2365925" y="1273797"/>
                </a:lnTo>
                <a:lnTo>
                  <a:pt x="0" y="12737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6818" t="-78926" r="-32997" b="-117912"/>
            </a:stretch>
          </a:blipFill>
        </p:spPr>
      </p:sp>
      <p:sp>
        <p:nvSpPr>
          <p:cNvPr id="7" name="Freeform 7"/>
          <p:cNvSpPr/>
          <p:nvPr/>
        </p:nvSpPr>
        <p:spPr>
          <a:xfrm rot="-5400000" flipH="1" flipV="1">
            <a:off x="13672854" y="-188405"/>
            <a:ext cx="4647320" cy="5024130"/>
          </a:xfrm>
          <a:custGeom>
            <a:avLst/>
            <a:gdLst/>
            <a:ahLst/>
            <a:cxnLst/>
            <a:rect l="l" t="t" r="r" b="b"/>
            <a:pathLst>
              <a:path w="4647320" h="5024130">
                <a:moveTo>
                  <a:pt x="4647320" y="5024130"/>
                </a:moveTo>
                <a:lnTo>
                  <a:pt x="0" y="5024130"/>
                </a:lnTo>
                <a:lnTo>
                  <a:pt x="0" y="0"/>
                </a:lnTo>
                <a:lnTo>
                  <a:pt x="4647320" y="0"/>
                </a:lnTo>
                <a:lnTo>
                  <a:pt x="4647320" y="502413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601579" y="30199"/>
            <a:ext cx="3996168" cy="4004511"/>
          </a:xfrm>
          <a:custGeom>
            <a:avLst/>
            <a:gdLst/>
            <a:ahLst/>
            <a:cxnLst/>
            <a:rect l="l" t="t" r="r" b="b"/>
            <a:pathLst>
              <a:path w="3996168" h="4004511">
                <a:moveTo>
                  <a:pt x="0" y="0"/>
                </a:moveTo>
                <a:lnTo>
                  <a:pt x="3996168" y="0"/>
                </a:lnTo>
                <a:lnTo>
                  <a:pt x="3996168" y="4004511"/>
                </a:lnTo>
                <a:lnTo>
                  <a:pt x="0" y="40045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0" y="-20754"/>
            <a:ext cx="4317968" cy="4668074"/>
          </a:xfrm>
          <a:custGeom>
            <a:avLst/>
            <a:gdLst/>
            <a:ahLst/>
            <a:cxnLst/>
            <a:rect l="l" t="t" r="r" b="b"/>
            <a:pathLst>
              <a:path w="4317968" h="4668074">
                <a:moveTo>
                  <a:pt x="0" y="0"/>
                </a:moveTo>
                <a:lnTo>
                  <a:pt x="4317968" y="0"/>
                </a:lnTo>
                <a:lnTo>
                  <a:pt x="4317968" y="4668074"/>
                </a:lnTo>
                <a:lnTo>
                  <a:pt x="0" y="46680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2273456" y="1800046"/>
            <a:ext cx="2427304" cy="1617191"/>
          </a:xfrm>
          <a:custGeom>
            <a:avLst/>
            <a:gdLst/>
            <a:ahLst/>
            <a:cxnLst/>
            <a:rect l="l" t="t" r="r" b="b"/>
            <a:pathLst>
              <a:path w="2427304" h="1617191">
                <a:moveTo>
                  <a:pt x="0" y="0"/>
                </a:moveTo>
                <a:lnTo>
                  <a:pt x="2427304" y="0"/>
                </a:lnTo>
                <a:lnTo>
                  <a:pt x="2427304" y="1617191"/>
                </a:lnTo>
                <a:lnTo>
                  <a:pt x="0" y="16171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-236882" y="158429"/>
            <a:ext cx="18364246" cy="1740542"/>
            <a:chOff x="0" y="0"/>
            <a:chExt cx="24485662" cy="2320723"/>
          </a:xfrm>
        </p:grpSpPr>
        <p:sp>
          <p:nvSpPr>
            <p:cNvPr id="12" name="TextBox 12"/>
            <p:cNvSpPr txBox="1"/>
            <p:nvPr/>
          </p:nvSpPr>
          <p:spPr>
            <a:xfrm>
              <a:off x="5368468" y="286218"/>
              <a:ext cx="14278749" cy="15645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6"/>
                </a:lnSpc>
                <a:spcBef>
                  <a:spcPct val="0"/>
                </a:spcBef>
              </a:pPr>
              <a:r>
                <a:rPr lang="en-US" sz="2128" b="1" spc="253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Madhav Institute of Technology &amp; Science, Gwalior (M.P.), INDIA</a:t>
              </a:r>
            </a:p>
            <a:p>
              <a:pPr algn="ctr">
                <a:lnSpc>
                  <a:spcPts val="2146"/>
                </a:lnSpc>
                <a:spcBef>
                  <a:spcPct val="0"/>
                </a:spcBef>
              </a:pPr>
              <a:r>
                <a:rPr lang="en-US" sz="1480" b="1" spc="176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Deemed University</a:t>
              </a:r>
            </a:p>
            <a:p>
              <a:pPr algn="ctr">
                <a:lnSpc>
                  <a:spcPts val="2146"/>
                </a:lnSpc>
                <a:spcBef>
                  <a:spcPct val="0"/>
                </a:spcBef>
              </a:pPr>
              <a:r>
                <a:rPr lang="en-US" sz="1480" b="1" spc="176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(Declared under Distinct Category by Ministry of Education, Government of India)</a:t>
              </a:r>
            </a:p>
            <a:p>
              <a:pPr algn="ctr">
                <a:lnSpc>
                  <a:spcPts val="2146"/>
                </a:lnSpc>
                <a:spcBef>
                  <a:spcPct val="0"/>
                </a:spcBef>
              </a:pPr>
              <a:r>
                <a:rPr lang="en-US" sz="1480" b="1" spc="176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NAAC ACCREDITED WITH A++ GRADE</a:t>
              </a:r>
            </a:p>
          </p:txBody>
        </p:sp>
        <p:sp>
          <p:nvSpPr>
            <p:cNvPr id="13" name="Freeform 13"/>
            <p:cNvSpPr/>
            <p:nvPr/>
          </p:nvSpPr>
          <p:spPr>
            <a:xfrm>
              <a:off x="21019431" y="0"/>
              <a:ext cx="3466231" cy="1866194"/>
            </a:xfrm>
            <a:custGeom>
              <a:avLst/>
              <a:gdLst/>
              <a:ahLst/>
              <a:cxnLst/>
              <a:rect l="l" t="t" r="r" b="b"/>
              <a:pathLst>
                <a:path w="3466231" h="1866194">
                  <a:moveTo>
                    <a:pt x="0" y="0"/>
                  </a:moveTo>
                  <a:lnTo>
                    <a:pt x="3466231" y="0"/>
                  </a:lnTo>
                  <a:lnTo>
                    <a:pt x="3466231" y="1866194"/>
                  </a:lnTo>
                  <a:lnTo>
                    <a:pt x="0" y="18661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6818" t="-78926" r="-32997" b="-117912"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0" y="0"/>
              <a:ext cx="3483261" cy="2320723"/>
            </a:xfrm>
            <a:custGeom>
              <a:avLst/>
              <a:gdLst/>
              <a:ahLst/>
              <a:cxnLst/>
              <a:rect l="l" t="t" r="r" b="b"/>
              <a:pathLst>
                <a:path w="3483261" h="2320723">
                  <a:moveTo>
                    <a:pt x="0" y="0"/>
                  </a:moveTo>
                  <a:lnTo>
                    <a:pt x="3483261" y="0"/>
                  </a:lnTo>
                  <a:lnTo>
                    <a:pt x="3483261" y="2320723"/>
                  </a:lnTo>
                  <a:lnTo>
                    <a:pt x="0" y="2320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833915" y="4208460"/>
            <a:ext cx="10620170" cy="1638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99"/>
              </a:lnSpc>
            </a:pPr>
            <a:r>
              <a:rPr lang="en-US" sz="12399" b="1">
                <a:solidFill>
                  <a:srgbClr val="01386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 YOU</a:t>
            </a:r>
          </a:p>
        </p:txBody>
      </p:sp>
      <p:sp>
        <p:nvSpPr>
          <p:cNvPr id="3" name="Freeform 3"/>
          <p:cNvSpPr/>
          <p:nvPr/>
        </p:nvSpPr>
        <p:spPr>
          <a:xfrm>
            <a:off x="6004548" y="6644568"/>
            <a:ext cx="5931354" cy="358353"/>
          </a:xfrm>
          <a:custGeom>
            <a:avLst/>
            <a:gdLst/>
            <a:ahLst/>
            <a:cxnLst/>
            <a:rect l="l" t="t" r="r" b="b"/>
            <a:pathLst>
              <a:path w="5931354" h="358353">
                <a:moveTo>
                  <a:pt x="0" y="0"/>
                </a:moveTo>
                <a:lnTo>
                  <a:pt x="5931354" y="0"/>
                </a:lnTo>
                <a:lnTo>
                  <a:pt x="5931354" y="358352"/>
                </a:lnTo>
                <a:lnTo>
                  <a:pt x="0" y="3583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581526" y="0"/>
            <a:ext cx="4106228" cy="4114800"/>
          </a:xfrm>
          <a:custGeom>
            <a:avLst/>
            <a:gdLst/>
            <a:ahLst/>
            <a:cxnLst/>
            <a:rect l="l" t="t" r="r" b="b"/>
            <a:pathLst>
              <a:path w="4106228" h="4114800">
                <a:moveTo>
                  <a:pt x="0" y="0"/>
                </a:moveTo>
                <a:lnTo>
                  <a:pt x="4106227" y="0"/>
                </a:lnTo>
                <a:lnTo>
                  <a:pt x="410622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381438" y="6304600"/>
            <a:ext cx="5297854" cy="5271365"/>
          </a:xfrm>
          <a:custGeom>
            <a:avLst/>
            <a:gdLst/>
            <a:ahLst/>
            <a:cxnLst/>
            <a:rect l="l" t="t" r="r" b="b"/>
            <a:pathLst>
              <a:path w="5297854" h="5271365">
                <a:moveTo>
                  <a:pt x="0" y="0"/>
                </a:moveTo>
                <a:lnTo>
                  <a:pt x="5297854" y="0"/>
                </a:lnTo>
                <a:lnTo>
                  <a:pt x="5297854" y="5271365"/>
                </a:lnTo>
                <a:lnTo>
                  <a:pt x="0" y="52713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662746" y="119570"/>
            <a:ext cx="2365925" cy="1273797"/>
          </a:xfrm>
          <a:custGeom>
            <a:avLst/>
            <a:gdLst/>
            <a:ahLst/>
            <a:cxnLst/>
            <a:rect l="l" t="t" r="r" b="b"/>
            <a:pathLst>
              <a:path w="2365925" h="1273797">
                <a:moveTo>
                  <a:pt x="0" y="0"/>
                </a:moveTo>
                <a:lnTo>
                  <a:pt x="2365925" y="0"/>
                </a:lnTo>
                <a:lnTo>
                  <a:pt x="2365925" y="1273797"/>
                </a:lnTo>
                <a:lnTo>
                  <a:pt x="0" y="12737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6818" t="-78926" r="-32997" b="-117912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100263" y="-180474"/>
            <a:ext cx="4647320" cy="5024130"/>
          </a:xfrm>
          <a:custGeom>
            <a:avLst/>
            <a:gdLst/>
            <a:ahLst/>
            <a:cxnLst/>
            <a:rect l="l" t="t" r="r" b="b"/>
            <a:pathLst>
              <a:path w="4647320" h="5024130">
                <a:moveTo>
                  <a:pt x="0" y="0"/>
                </a:moveTo>
                <a:lnTo>
                  <a:pt x="4647320" y="0"/>
                </a:lnTo>
                <a:lnTo>
                  <a:pt x="4647320" y="5024130"/>
                </a:lnTo>
                <a:lnTo>
                  <a:pt x="0" y="50241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662746" y="119570"/>
            <a:ext cx="2365925" cy="1273797"/>
          </a:xfrm>
          <a:custGeom>
            <a:avLst/>
            <a:gdLst/>
            <a:ahLst/>
            <a:cxnLst/>
            <a:rect l="l" t="t" r="r" b="b"/>
            <a:pathLst>
              <a:path w="2365925" h="1273797">
                <a:moveTo>
                  <a:pt x="0" y="0"/>
                </a:moveTo>
                <a:lnTo>
                  <a:pt x="2365925" y="0"/>
                </a:lnTo>
                <a:lnTo>
                  <a:pt x="2365925" y="1273797"/>
                </a:lnTo>
                <a:lnTo>
                  <a:pt x="0" y="12737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6818" t="-78926" r="-32997" b="-117912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5662746" y="119570"/>
            <a:ext cx="2365925" cy="1273797"/>
          </a:xfrm>
          <a:custGeom>
            <a:avLst/>
            <a:gdLst/>
            <a:ahLst/>
            <a:cxnLst/>
            <a:rect l="l" t="t" r="r" b="b"/>
            <a:pathLst>
              <a:path w="2365925" h="1273797">
                <a:moveTo>
                  <a:pt x="0" y="0"/>
                </a:moveTo>
                <a:lnTo>
                  <a:pt x="2365925" y="0"/>
                </a:lnTo>
                <a:lnTo>
                  <a:pt x="2365925" y="1273797"/>
                </a:lnTo>
                <a:lnTo>
                  <a:pt x="0" y="12737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6818" t="-78926" r="-32997" b="-117912"/>
            </a:stretch>
          </a:blipFill>
        </p:spPr>
      </p:sp>
      <p:sp>
        <p:nvSpPr>
          <p:cNvPr id="10" name="Freeform 10"/>
          <p:cNvSpPr/>
          <p:nvPr/>
        </p:nvSpPr>
        <p:spPr>
          <a:xfrm rot="-5400000" flipH="1" flipV="1">
            <a:off x="13672854" y="-188405"/>
            <a:ext cx="4647320" cy="5024130"/>
          </a:xfrm>
          <a:custGeom>
            <a:avLst/>
            <a:gdLst/>
            <a:ahLst/>
            <a:cxnLst/>
            <a:rect l="l" t="t" r="r" b="b"/>
            <a:pathLst>
              <a:path w="4647320" h="5024130">
                <a:moveTo>
                  <a:pt x="4647320" y="5024130"/>
                </a:moveTo>
                <a:lnTo>
                  <a:pt x="0" y="5024130"/>
                </a:lnTo>
                <a:lnTo>
                  <a:pt x="0" y="0"/>
                </a:lnTo>
                <a:lnTo>
                  <a:pt x="4647320" y="0"/>
                </a:lnTo>
                <a:lnTo>
                  <a:pt x="4647320" y="502413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-236882" y="158429"/>
            <a:ext cx="18364246" cy="1740542"/>
            <a:chOff x="0" y="0"/>
            <a:chExt cx="24485662" cy="2320723"/>
          </a:xfrm>
        </p:grpSpPr>
        <p:sp>
          <p:nvSpPr>
            <p:cNvPr id="12" name="TextBox 12"/>
            <p:cNvSpPr txBox="1"/>
            <p:nvPr/>
          </p:nvSpPr>
          <p:spPr>
            <a:xfrm>
              <a:off x="5368468" y="286218"/>
              <a:ext cx="14278749" cy="15645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6"/>
                </a:lnSpc>
                <a:spcBef>
                  <a:spcPct val="0"/>
                </a:spcBef>
              </a:pPr>
              <a:r>
                <a:rPr lang="en-US" sz="2128" b="1" spc="253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Madhav Institute of Technology &amp; Science, Gwalior (M.P.), INDIA</a:t>
              </a:r>
            </a:p>
            <a:p>
              <a:pPr algn="ctr">
                <a:lnSpc>
                  <a:spcPts val="2146"/>
                </a:lnSpc>
                <a:spcBef>
                  <a:spcPct val="0"/>
                </a:spcBef>
              </a:pPr>
              <a:r>
                <a:rPr lang="en-US" sz="1480" b="1" spc="176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Deemed University</a:t>
              </a:r>
            </a:p>
            <a:p>
              <a:pPr algn="ctr">
                <a:lnSpc>
                  <a:spcPts val="2146"/>
                </a:lnSpc>
                <a:spcBef>
                  <a:spcPct val="0"/>
                </a:spcBef>
              </a:pPr>
              <a:r>
                <a:rPr lang="en-US" sz="1480" b="1" spc="176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(Declared under Distinct Category by Ministry of Education, Government of India)</a:t>
              </a:r>
            </a:p>
            <a:p>
              <a:pPr algn="ctr">
                <a:lnSpc>
                  <a:spcPts val="2146"/>
                </a:lnSpc>
                <a:spcBef>
                  <a:spcPct val="0"/>
                </a:spcBef>
              </a:pPr>
              <a:r>
                <a:rPr lang="en-US" sz="1480" b="1" spc="176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NAAC ACCREDITED WITH A++ GRADE</a:t>
              </a:r>
            </a:p>
          </p:txBody>
        </p:sp>
        <p:sp>
          <p:nvSpPr>
            <p:cNvPr id="13" name="Freeform 13"/>
            <p:cNvSpPr/>
            <p:nvPr/>
          </p:nvSpPr>
          <p:spPr>
            <a:xfrm>
              <a:off x="21019431" y="0"/>
              <a:ext cx="3466231" cy="1866194"/>
            </a:xfrm>
            <a:custGeom>
              <a:avLst/>
              <a:gdLst/>
              <a:ahLst/>
              <a:cxnLst/>
              <a:rect l="l" t="t" r="r" b="b"/>
              <a:pathLst>
                <a:path w="3466231" h="1866194">
                  <a:moveTo>
                    <a:pt x="0" y="0"/>
                  </a:moveTo>
                  <a:lnTo>
                    <a:pt x="3466231" y="0"/>
                  </a:lnTo>
                  <a:lnTo>
                    <a:pt x="3466231" y="1866194"/>
                  </a:lnTo>
                  <a:lnTo>
                    <a:pt x="0" y="18661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6818" t="-78926" r="-32997" b="-117912"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0" y="0"/>
              <a:ext cx="3483261" cy="2320723"/>
            </a:xfrm>
            <a:custGeom>
              <a:avLst/>
              <a:gdLst/>
              <a:ahLst/>
              <a:cxnLst/>
              <a:rect l="l" t="t" r="r" b="b"/>
              <a:pathLst>
                <a:path w="3483261" h="2320723">
                  <a:moveTo>
                    <a:pt x="0" y="0"/>
                  </a:moveTo>
                  <a:lnTo>
                    <a:pt x="3483261" y="0"/>
                  </a:lnTo>
                  <a:lnTo>
                    <a:pt x="3483261" y="2320723"/>
                  </a:lnTo>
                  <a:lnTo>
                    <a:pt x="0" y="2320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1499</TotalTime>
  <Words>737</Words>
  <Application>Microsoft Office PowerPoint</Application>
  <PresentationFormat>Custom</PresentationFormat>
  <Paragraphs>77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Calibri</vt:lpstr>
      <vt:lpstr>Open Sans Bold</vt:lpstr>
      <vt:lpstr>Aptos</vt:lpstr>
      <vt:lpstr>Montserrat Bold</vt:lpstr>
      <vt:lpstr>Arial</vt:lpstr>
      <vt:lpstr>DM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Yellow White Minimalist Elegant Presentation</dc:title>
  <cp:lastModifiedBy>ranip161206@gmail.com</cp:lastModifiedBy>
  <cp:revision>2</cp:revision>
  <dcterms:created xsi:type="dcterms:W3CDTF">2006-08-16T00:00:00Z</dcterms:created>
  <dcterms:modified xsi:type="dcterms:W3CDTF">2026-07-23T16:52:18Z</dcterms:modified>
  <dc:identifier>DAHOogCGmek</dc:identifier>
</cp:coreProperties>
</file>